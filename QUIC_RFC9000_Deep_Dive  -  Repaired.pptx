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252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457200"/>
            <a:ext cx="2194560" cy="64008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457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RFC  9000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5486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kern="0" spc="800" dirty="0">
                <a:solidFill>
                  <a:srgbClr val="FFFFFF"/>
                </a:solidFill>
              </a:rPr>
              <a:t>QUIC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6576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D4FF"/>
                </a:solidFill>
              </a:rPr>
              <a:t>Quick UDP Internet Connections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Complete Technical Deep-Dive  —  RFC 9000 Reference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971800"/>
            <a:ext cx="502920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3108960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081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Why QUIC when TCP exists?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520440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4930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How QUIC works under the hood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931920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9044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When QUIC is mission-critical in aviation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30-Minute Technical Briefing  |  Aerospace &amp; Cybersecurity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69494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AGENDA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We'll Cover in 30 Minutes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50292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0332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Protocol Landscape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362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TCP, UDP, TLS — Where We Came From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20240"/>
            <a:ext cx="50292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202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19933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TCP Falls Short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HoL Blocking, Handshakes, Ossification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502920" cy="80467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803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29535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QUIC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RFC 9000 Core Concepts &amp; Design Goals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40480"/>
            <a:ext cx="502920" cy="80467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404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39136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Connection Establishment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242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0-RTT, 1-RTT, and the Crypto Handshake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60120"/>
            <a:ext cx="50292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57800" y="10332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Streams &amp; Multiplexing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1362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Stream Types, Flow Control, Frames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92024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920240"/>
            <a:ext cx="502920" cy="80467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9202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257800" y="19933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&amp; TLS 1.3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Integrated Encryption, AEAD, Key Derivation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88036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880360"/>
            <a:ext cx="502920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8803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257800" y="29535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Loss Detection &amp; Congestion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ACK Frames, Packet Spaces, CUBIC vs BBR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840480"/>
            <a:ext cx="4251960" cy="804672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840480"/>
            <a:ext cx="502920" cy="80467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8404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90F"/>
                </a:solidFill>
              </a:rPr>
              <a:t>08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257800" y="39136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QUIC in Aviation / GCS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4242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UAV Ops, ATC, Ground Data Link Systems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3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01 — PROTOCOL LANDSCAPE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Evolution of Internet Transport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50 years of evolution — and why we needed a revolution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423160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1974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TCP/IP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Cerf &amp; Kahn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Define transport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8056" y="2331720"/>
            <a:ext cx="1828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72768" y="2423160"/>
            <a:ext cx="146304" cy="1463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6517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1981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TCP RFC 793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Foundation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Still in use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636776" y="2450592"/>
            <a:ext cx="18288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2423160"/>
            <a:ext cx="146304" cy="146304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E3B5"/>
                </a:solidFill>
              </a:rPr>
              <a:t>1999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TLS 1.0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Security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layer added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25496" y="2331720"/>
            <a:ext cx="18288" cy="10972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50208" y="2423160"/>
            <a:ext cx="146304" cy="146304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6517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E3B5"/>
                </a:solidFill>
              </a:rPr>
              <a:t>2012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SPDY/HTTP2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11880" y="3127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Google's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first attempt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014216" y="2450592"/>
            <a:ext cx="18288" cy="10972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8928" y="2423160"/>
            <a:ext cx="146304" cy="146304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542"/>
                </a:solidFill>
              </a:rPr>
              <a:t>2013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QUIC v1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Google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prototype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202936" y="2331720"/>
            <a:ext cx="18288" cy="10972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2423160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6517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2018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IETF QUIC WG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89320" y="3127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Standardization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begins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91656" y="2450592"/>
            <a:ext cx="1828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2423160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1031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2021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RFC 9000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QUIC 1.0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Ratified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580376" y="2331720"/>
            <a:ext cx="1828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3630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RFC 9000 — The Gold Standard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94360" y="396849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39410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Published May 2021  •  151 pages  •  IETF Transport Area WG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" y="42153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4187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Specifies QUIC v1 — stream multiplexing, connection migration, integrated TLS 1.3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44622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44348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Companion RFCs: 9001 (QUIC-TLS), 9002 (Loss Detection &amp; Congestion Control)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4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71576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02 — WHY TCP FALLS SHORT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TCP/TLS Stack: The Classic Model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Traditional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914400"/>
            <a:ext cx="3200400" cy="43891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HTTP/2  (Application)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3200400" cy="43891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TLS 1.2/1.3  (Security)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320040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653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TCP  (Transport)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3200400" cy="438912"/>
          </a:xfrm>
          <a:prstGeom prst="rect">
            <a:avLst/>
          </a:prstGeom>
          <a:solidFill>
            <a:srgbClr val="5B6A7D"/>
          </a:solidFill>
          <a:ln w="12700">
            <a:solidFill>
              <a:srgbClr val="5B6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408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IP  (Network)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777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QUIC Stack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914400"/>
            <a:ext cx="3200400" cy="43891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9144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HTTP/3  (Application)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1389888"/>
            <a:ext cx="3200400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389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QUIC  (Transport + TLS 1.3)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1865376"/>
            <a:ext cx="3200400" cy="438912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18653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UDP  (Unreliable Datagram)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2340864"/>
            <a:ext cx="3200400" cy="438912"/>
          </a:xfrm>
          <a:prstGeom prst="rect">
            <a:avLst/>
          </a:prstGeom>
          <a:solidFill>
            <a:srgbClr val="5B6A7D"/>
          </a:solidFill>
          <a:ln w="12700">
            <a:solidFill>
              <a:srgbClr val="5B6A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3408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IP  (Network)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1389888"/>
            <a:ext cx="164592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1508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0D4FF"/>
                </a:solidFill>
              </a:rPr>
              <a:t>MERGED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00D4FF"/>
                </a:solidFill>
              </a:rPr>
              <a:t>INTO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00D4FF"/>
                </a:solidFill>
              </a:rPr>
              <a:t>QUIC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498080" y="868680"/>
            <a:ext cx="1463040" cy="1965960"/>
          </a:xfrm>
          <a:prstGeom prst="rect">
            <a:avLst/>
          </a:prstGeom>
          <a:solidFill>
            <a:srgbClr val="0F21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886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QUIC GAINS</a:t>
            </a:r>
            <a:endParaRPr lang="en-US" sz="8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133856"/>
            <a:ext cx="164592" cy="16459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754112" y="11155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TLS built-in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53896"/>
            <a:ext cx="164592" cy="1645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754112" y="1435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0-RTT connect</a:t>
            </a:r>
            <a:endParaRPr lang="en-US" sz="8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73936"/>
            <a:ext cx="164592" cy="16459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754112" y="1755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No HoL block</a:t>
            </a:r>
            <a:endParaRPr lang="en-US" sz="85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93976"/>
            <a:ext cx="164592" cy="16459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754112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Multi-stream</a:t>
            </a:r>
            <a:endParaRPr lang="en-US" sz="85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414016"/>
            <a:ext cx="164592" cy="16459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754112" y="23957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Conn migrate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274320" y="2944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TCP's Fatal Flaws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274320" y="3246120"/>
            <a:ext cx="1965960" cy="141732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274320" y="3246120"/>
            <a:ext cx="1965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6576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3-Way Handshake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6576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1.5 RTT before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any data flows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2377440" y="3246120"/>
            <a:ext cx="1965960" cy="141732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2377440" y="3246120"/>
            <a:ext cx="1965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246888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Head-of-Line Block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246888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One lost packet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stalls ALL streams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480560" y="3246120"/>
            <a:ext cx="1965960" cy="141732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4480560" y="3246120"/>
            <a:ext cx="196596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57200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542"/>
                </a:solidFill>
              </a:rPr>
              <a:t>Protocol Ossification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457200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Middleboxes inspect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and break TCP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6583680" y="3246120"/>
            <a:ext cx="1965960" cy="1417320"/>
          </a:xfrm>
          <a:prstGeom prst="rect">
            <a:avLst/>
          </a:prstGeom>
          <a:solidFill>
            <a:srgbClr val="101828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583680" y="324612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667512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No Conn Migration</a:t>
            </a:r>
            <a:endParaRPr lang="en-US" sz="1050" dirty="0"/>
          </a:p>
        </p:txBody>
      </p:sp>
      <p:sp>
        <p:nvSpPr>
          <p:cNvPr id="57" name="Text 50"/>
          <p:cNvSpPr/>
          <p:nvPr/>
        </p:nvSpPr>
        <p:spPr>
          <a:xfrm>
            <a:off x="66751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IP change = new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TCP+TLS handshake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5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TCP PROBLEM — HEAD-OF-LINE BLOCKING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Head-of-Line Blocking: Why HTTP/2 Over TCP Fails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4114800" cy="388620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68680"/>
            <a:ext cx="41148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TCP + HTTP/2  — Blocked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325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E3B5"/>
                </a:solidFill>
              </a:rPr>
              <a:t>Stream 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736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3464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C542"/>
                </a:solidFill>
              </a:rPr>
              <a:t>Stream 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8872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737360" y="1965960"/>
            <a:ext cx="4572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83464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8328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</a:rPr>
              <a:t>Stream 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8872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73736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3464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8328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337560"/>
            <a:ext cx="3840480" cy="502920"/>
          </a:xfrm>
          <a:prstGeom prst="rect">
            <a:avLst/>
          </a:prstGeom>
          <a:solidFill>
            <a:srgbClr val="1A000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0040" y="3364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⚠  ALL STREAMS STALL — waiting for B:P2 retransmission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TCP sees ONE byte stream. Packet loss = EVERYONE waits.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2245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This is fatal for real-time aviation data links.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868680"/>
            <a:ext cx="4297680" cy="388620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868680"/>
            <a:ext cx="4297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QUIC  — Independent Streams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09160" y="1325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AE3B5"/>
                </a:solidFill>
              </a:rPr>
              <a:t>Stream 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2648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67512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22376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772400" y="1325880"/>
            <a:ext cx="457200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1325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0916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C542"/>
                </a:solidFill>
              </a:rPr>
              <a:t>Stream B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7784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7784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26480" y="1965960"/>
            <a:ext cx="4572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✕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67512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22376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772400" y="1965960"/>
            <a:ext cx="457200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0916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35"/>
                </a:solidFill>
              </a:rPr>
              <a:t>Stream C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57784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7784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12648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P2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67512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7512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P3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2376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2376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P4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772400" y="2606040"/>
            <a:ext cx="45720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P5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754880" y="3337560"/>
            <a:ext cx="4023360" cy="502920"/>
          </a:xfrm>
          <a:prstGeom prst="rect">
            <a:avLst/>
          </a:prstGeom>
          <a:solidFill>
            <a:srgbClr val="001A0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800600" y="3364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Only Stream B retransmits — A &amp; C continue flowing!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754880" y="39319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QUIC stream loss is isolated. Critical telemetry never halts.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754880" y="42245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Flight-critical &amp; non-critical data co-exist safely.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6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56032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03 — QUIC ARCHITECTURE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 Architecture — RFC 9000 Core Design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017520" y="1280160"/>
            <a:ext cx="3108960" cy="164592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280160"/>
            <a:ext cx="3108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</a:rPr>
              <a:t>QUIC (RFC 9000)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17830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764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Stream Multiplexing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20391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020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Flow Control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229514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276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Connection Migration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255117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532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Loss Detection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005840"/>
            <a:ext cx="24688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005840"/>
            <a:ext cx="2468880" cy="457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296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E3B5"/>
                </a:solidFill>
              </a:rPr>
              <a:t>HTTP/3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E3B5"/>
                </a:solidFill>
              </a:rPr>
              <a:t>(RFC 9114)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Application layer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2560320"/>
            <a:ext cx="24688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2560320"/>
            <a:ext cx="2468880" cy="457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E3B5"/>
                </a:solidFill>
              </a:rPr>
              <a:t>TLS 1.3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E3B5"/>
                </a:solidFill>
              </a:rPr>
              <a:t>(RFC 8446)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657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Crypto handshake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&amp; key material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3017520" y="3246120"/>
            <a:ext cx="24688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2D5A8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017520" y="3246120"/>
            <a:ext cx="2468880" cy="45720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42900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5661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A8E"/>
                </a:solidFill>
              </a:rPr>
              <a:t>UDP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5A8E"/>
                </a:solidFill>
              </a:rPr>
              <a:t>(Datagram)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10896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Transport substrate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No kernel changes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583680" y="1005840"/>
            <a:ext cx="24688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583680" y="1005840"/>
            <a:ext cx="2468880" cy="457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188720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1323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QPACK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(RFC 9204)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67512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Header compression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6583680" y="2560320"/>
            <a:ext cx="24688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583680" y="2560320"/>
            <a:ext cx="24688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743200"/>
            <a:ext cx="365760" cy="36576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1323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Connection ID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Migration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667512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NAT traversal 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mobility support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1508760" y="1828800"/>
            <a:ext cx="1508760" cy="4114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46" name="Shape 39"/>
          <p:cNvSpPr/>
          <p:nvPr/>
        </p:nvSpPr>
        <p:spPr>
          <a:xfrm>
            <a:off x="1508760" y="2560320"/>
            <a:ext cx="1508760" cy="1234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47" name="Shape 40"/>
          <p:cNvSpPr/>
          <p:nvPr/>
        </p:nvSpPr>
        <p:spPr>
          <a:xfrm>
            <a:off x="4572000" y="1828800"/>
            <a:ext cx="2011680" cy="2743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48" name="Shape 41"/>
          <p:cNvSpPr/>
          <p:nvPr/>
        </p:nvSpPr>
        <p:spPr>
          <a:xfrm>
            <a:off x="4572000" y="2468880"/>
            <a:ext cx="2011680" cy="5486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49" name="Shape 42"/>
          <p:cNvSpPr/>
          <p:nvPr/>
        </p:nvSpPr>
        <p:spPr>
          <a:xfrm>
            <a:off x="4572000" y="3017520"/>
            <a:ext cx="9144" cy="228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7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093976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RFC 9000 — PACKET FORMAT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 Packet Structure (RFC 9000 §17)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Long Header Packet (Initial / Handshake / Retry)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161288"/>
            <a:ext cx="25603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9576"/>
            <a:ext cx="2505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Header Form (1b) + Version (32b)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0" y="1161288"/>
            <a:ext cx="2286000" cy="502920"/>
          </a:xfrm>
          <a:prstGeom prst="rect">
            <a:avLst/>
          </a:prstGeom>
          <a:solidFill>
            <a:srgbClr val="2D7D9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179576"/>
            <a:ext cx="22311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DCID Length (8b) + DCID (0-160b)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257800" y="1161288"/>
            <a:ext cx="1828800" cy="502920"/>
          </a:xfrm>
          <a:prstGeom prst="rect">
            <a:avLst/>
          </a:prstGeom>
          <a:solidFill>
            <a:srgbClr val="1B6A8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179576"/>
            <a:ext cx="17739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SCID Len + Source Conn ID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32320" y="1161288"/>
            <a:ext cx="1371600" cy="502920"/>
          </a:xfrm>
          <a:prstGeom prst="rect">
            <a:avLst/>
          </a:prstGeom>
          <a:solidFill>
            <a:srgbClr val="144A6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179576"/>
            <a:ext cx="13167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Type-Specific Payload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" y="1828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3B5"/>
                </a:solidFill>
              </a:rPr>
              <a:t>Short Header Packet (1-RTT Data)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121408"/>
            <a:ext cx="1097280" cy="502920"/>
          </a:xfrm>
          <a:prstGeom prst="rect">
            <a:avLst/>
          </a:prstGeom>
          <a:solidFill>
            <a:srgbClr val="4AE3B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39696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Header Form (1b)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63040" y="2121408"/>
            <a:ext cx="822960" cy="502920"/>
          </a:xfrm>
          <a:prstGeom prst="rect">
            <a:avLst/>
          </a:prstGeom>
          <a:solidFill>
            <a:srgbClr val="2C9E7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0472" y="2139696"/>
            <a:ext cx="768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Fixed Bit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31720" y="2121408"/>
            <a:ext cx="822960" cy="502920"/>
          </a:xfrm>
          <a:prstGeom prst="rect">
            <a:avLst/>
          </a:prstGeom>
          <a:solidFill>
            <a:srgbClr val="217A5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2139696"/>
            <a:ext cx="768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Spin Bit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0" y="2121408"/>
            <a:ext cx="2011680" cy="502920"/>
          </a:xfrm>
          <a:prstGeom prst="rect">
            <a:avLst/>
          </a:prstGeom>
          <a:solidFill>
            <a:srgbClr val="1A5E4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2139696"/>
            <a:ext cx="1956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DCID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257800" y="2121408"/>
            <a:ext cx="2194560" cy="502920"/>
          </a:xfrm>
          <a:prstGeom prst="rect">
            <a:avLst/>
          </a:prstGeom>
          <a:solidFill>
            <a:srgbClr val="13443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2139696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Packet Number (1-4 bytes)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498080" y="2121408"/>
            <a:ext cx="1645920" cy="502920"/>
          </a:xfrm>
          <a:prstGeom prst="rect">
            <a:avLst/>
          </a:prstGeom>
          <a:solidFill>
            <a:srgbClr val="0C2E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2139696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Encrypted Payload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2788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</a:rPr>
              <a:t>Key Design Decisions in Packet Format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108960"/>
            <a:ext cx="4206240" cy="73152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108960"/>
            <a:ext cx="73152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172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Connection ID (DCID)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Not tied to IP:port tuple. Survives NAT rebinding, network switches. Critical for mobile/UAV.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108960"/>
            <a:ext cx="4206240" cy="73152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108960"/>
            <a:ext cx="73152" cy="7315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172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Packet Number Space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19472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Three separate spaces: Initial, Handshake, 1-RTT. Prevents packet reuse attacks across epochs.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913632"/>
            <a:ext cx="4206240" cy="73152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3913632"/>
            <a:ext cx="73152" cy="7315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977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Spin Bit (RFC 9000 §17.4)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" y="4233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One-bit latency signal. Toggled once per RTT. Allows network operators to measure RTT without decryption.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3913632"/>
            <a:ext cx="4206240" cy="73152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913632"/>
            <a:ext cx="73152" cy="7315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977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542"/>
                </a:solidFill>
              </a:rPr>
              <a:t>AEAD Encryption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19472" y="4233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Entire payload is AEAD-protected. Even packet numbers are encrypted after the header. No middlebox tampering.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8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310438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31043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04 — CONNECTION ESTABLISHMENT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Handshake Comparison: TCP/TLS vs QUIC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</a:rPr>
              <a:t>TCP + TLS 1.3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Client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188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1417320"/>
            <a:ext cx="27432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7432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1508760"/>
            <a:ext cx="2441448" cy="9144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293876" y="1344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6B35"/>
                </a:solidFill>
              </a:rPr>
              <a:t>SYN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04672" y="1874520"/>
            <a:ext cx="2441448" cy="9144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arrow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93876" y="17099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6B35"/>
                </a:solidFill>
              </a:rPr>
              <a:t>SYN-ACK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" y="2240280"/>
            <a:ext cx="2441448" cy="9144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293876" y="2075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6B35"/>
                </a:solidFill>
              </a:rPr>
              <a:t>ACK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04672" y="2606040"/>
            <a:ext cx="2441448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293876" y="2441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E3B5"/>
                </a:solidFill>
              </a:rPr>
              <a:t>ClientHello (TLS)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04672" y="2971800"/>
            <a:ext cx="2441448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arrow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93876" y="2807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E3B5"/>
                </a:solidFill>
              </a:rPr>
              <a:t>ServerHello + Cert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04672" y="3337560"/>
            <a:ext cx="2441448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1293876" y="31729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E3B5"/>
                </a:solidFill>
              </a:rPr>
              <a:t>Finished (TLS)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4672" y="3703320"/>
            <a:ext cx="2441448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1293876" y="35387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E3B5"/>
                </a:solidFill>
              </a:rPr>
              <a:t>HTTP DATA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37560" y="1508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6B35"/>
                </a:solidFill>
              </a:rPr>
              <a:t>1 RTT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3756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F6B35"/>
                </a:solidFill>
              </a:rPr>
              <a:t>2 RTT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37560" y="3657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B35"/>
                </a:solidFill>
              </a:rPr>
              <a:t>DATA at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6B35"/>
                </a:solidFill>
              </a:rPr>
              <a:t>3.5 RTT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QUIC (RFC 9000)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1188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Client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0" y="1188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Server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2120" y="1417320"/>
            <a:ext cx="27432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1417320"/>
            <a:ext cx="27432" cy="3200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9552" y="1508760"/>
            <a:ext cx="2487168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5888736" y="1344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Initial (CRYPTO: ClientHello)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559552" y="2011680"/>
            <a:ext cx="2487168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arrow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888736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Initial + Handshake + CRYPTO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59552" y="2514600"/>
            <a:ext cx="2487168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none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5888736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E3B5"/>
                </a:solidFill>
              </a:rPr>
              <a:t>Handshake (Finished)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559552" y="2926080"/>
            <a:ext cx="2487168" cy="91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headEnd type="none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5888736" y="2761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1-RTT DATA  ← HERE!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092440" y="28529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</a:rPr>
              <a:t>DATA at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</a:rPr>
              <a:t>1 RTT!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3337560"/>
            <a:ext cx="3840480" cy="914400"/>
          </a:xfrm>
          <a:prstGeom prst="rect">
            <a:avLst/>
          </a:prstGeom>
          <a:solidFill>
            <a:srgbClr val="0F2137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429000"/>
            <a:ext cx="365760" cy="36576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548640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</a:rPr>
              <a:t>0-RTT Resume (Session Resumption)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07492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Known server? Send DATA in the very first packet.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No round trip needed. RFC 9000 §7.3 + §8.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9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05 — STREAMS &amp; MULTIPLEXING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 Streams: RFC 9000 §2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</a:rPr>
              <a:t>Stream ID Encoding (Variable-Length Integer)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RFC 9000 uses variable-length integers (§16). Stream IDs encode initiator and direction in the two lowest bits.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4206240" cy="566928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17320"/>
            <a:ext cx="64008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0x00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Bidirectional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" y="1709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Client → Server  |  LSB=0, Second bit=0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206240" cy="566928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417320"/>
            <a:ext cx="64008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0x01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Bidirectional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22392" y="1709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Server → Client  |  LSB=0, Second bit=1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057400"/>
            <a:ext cx="4206240" cy="566928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057400"/>
            <a:ext cx="640080" cy="56692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57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0x02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2103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Unidirectional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33272" y="2350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Client → Server  |  LSB=1, Second bit=0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057400"/>
            <a:ext cx="4206240" cy="566928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057400"/>
            <a:ext cx="640080" cy="56692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057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0x03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22392" y="2103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Unidirectional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22392" y="2350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Server → Client  |  LSB=1, Second bit=1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2788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Flow Control: Two Levels (RFC 9000 §4)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416052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90672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Stream-Level Flow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" y="3493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MAX_STREAM_DATA frame limits bytes on individual streams.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Sender must not exceed receiver's advertised limit.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090672"/>
            <a:ext cx="416052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90672"/>
            <a:ext cx="416052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Connection-Level Flow Control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18888" y="3493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MAX_DATA frame limits aggregate bytes across ALL streams.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Prevents a fast sender overwhelming receiver buffers.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" y="440740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Key QUIC Frame Types (RFC 9000 §19)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1005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STREAM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99032" y="4663440"/>
            <a:ext cx="1005840" cy="25603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99032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ACK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478024" y="4663440"/>
            <a:ext cx="1005840" cy="25603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78024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CRYPTO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57016" y="4663440"/>
            <a:ext cx="100584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57016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RESET_STREAM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636008" y="4663440"/>
            <a:ext cx="1005840" cy="2560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MAX_DATA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715000" y="4663440"/>
            <a:ext cx="1005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NEW_CONNECTION_ID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793992" y="4663440"/>
            <a:ext cx="1005840" cy="25603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93992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PATH_CHALLENGE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872984" y="4663440"/>
            <a:ext cx="10058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72984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PING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10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06 — SECURITY &amp; TLS 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Security: TLS 1.3 as a Library (RFC 9001)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RFC 9001 defines how TLS 1.3 is integrated into QUIC — not layered on top, but woven in.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3B5"/>
                </a:solidFill>
              </a:rPr>
              <a:t>Packet Number Spaces &amp; Encryption Levels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44752"/>
            <a:ext cx="128016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4447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90F"/>
                </a:solidFill>
              </a:rPr>
              <a:t>Initial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Key: Derived from Connection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91640" y="1719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Cipher: AES-128-GCM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ClientHello / ServerHello frames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157984"/>
            <a:ext cx="8503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57984"/>
            <a:ext cx="1280160" cy="64008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5798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90F"/>
                </a:solidFill>
              </a:rPr>
              <a:t>Handshake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22128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3B5"/>
                </a:solidFill>
              </a:rPr>
              <a:t>Key: Handshake Secret (HKDF-SHA-256)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91640" y="24323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Cipher: AES-128-GCM or ChaCha20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Certificate, Finished messages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8503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71216"/>
            <a:ext cx="1280160" cy="6400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71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90F"/>
                </a:solidFill>
              </a:rPr>
              <a:t>0-RTT (Early Data)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2926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C542"/>
                </a:solidFill>
              </a:rPr>
              <a:t>Key: Early Secret (from PSK)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91640" y="3145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Cipher: Negotiated cipher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3008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Application data (replay risk)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8503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84448"/>
            <a:ext cx="1280160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90F"/>
                </a:solidFill>
              </a:rPr>
              <a:t>1-RTT (App Data)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Key: Traffic Secret (forward-secret)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91640" y="38587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Cipher: Negotiated AEAD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All application data, post-handshake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407408"/>
            <a:ext cx="320040" cy="3200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2296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AEAD Guarantee: Authenticated Encryption with Associated Data — payload + header integrity verified together. No TLS record layer overhead. Packet numbers are also encrypted (§5.4).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11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32714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3271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CRYPTO DEEP DIVE — RFC 9001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Key Schedule: HKDF-SHA-256 Derivation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1828800" cy="411480"/>
          </a:xfrm>
          <a:prstGeom prst="rect">
            <a:avLst/>
          </a:prstGeom>
          <a:solidFill>
            <a:srgbClr val="10182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</a:rPr>
              <a:t>PSK / DHE Input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62856" y="1325880"/>
            <a:ext cx="9144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657600" y="1554480"/>
            <a:ext cx="1828800" cy="50292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542"/>
                </a:solidFill>
              </a:rPr>
              <a:t>Early Secret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C542"/>
                </a:solidFill>
              </a:rPr>
              <a:t>(HKDF-Extract)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62856" y="2057400"/>
            <a:ext cx="9144" cy="411480"/>
          </a:xfrm>
          <a:prstGeom prst="line">
            <a:avLst/>
          </a:prstGeom>
          <a:noFill/>
          <a:ln w="19050">
            <a:solidFill>
              <a:srgbClr val="F4C542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657600" y="2468880"/>
            <a:ext cx="1828800" cy="50292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E3B5"/>
                </a:solidFill>
              </a:rPr>
              <a:t>Handshake Secret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AE3B5"/>
                </a:solidFill>
              </a:rPr>
              <a:t>(HKDF-Extract)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62856" y="2971800"/>
            <a:ext cx="9144" cy="411480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657600" y="3383280"/>
            <a:ext cx="1828800" cy="50292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Master Secret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(HKDF-Extract)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0" y="1719072"/>
            <a:ext cx="2103120" cy="502920"/>
          </a:xfrm>
          <a:prstGeom prst="rect">
            <a:avLst/>
          </a:prstGeom>
          <a:solidFill>
            <a:srgbClr val="0F2137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1732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C542"/>
                </a:solidFill>
              </a:rPr>
              <a:t>0-RTT Keys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C542"/>
                </a:solidFill>
              </a:rPr>
              <a:t>client_early_traffic_secret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182880" cy="9144"/>
          </a:xfrm>
          <a:prstGeom prst="line">
            <a:avLst/>
          </a:prstGeom>
          <a:noFill/>
          <a:ln w="19050">
            <a:solidFill>
              <a:srgbClr val="F4C542"/>
            </a:solidFill>
            <a:prstDash val="solid"/>
            <a:headEnd type="arrow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371600" y="2633472"/>
            <a:ext cx="2103120" cy="502920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32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E3B5"/>
                </a:solidFill>
              </a:rPr>
              <a:t>Client/Server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E3B5"/>
                </a:solidFill>
              </a:rPr>
              <a:t>Handshake Traffic Keys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2880360"/>
            <a:ext cx="182880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headEnd type="arrow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371600" y="3547872"/>
            <a:ext cx="2103120" cy="50292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17320" y="3593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Client/Server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App Traffic Keys (1-RTT)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0" y="3794760"/>
            <a:ext cx="182880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headEnd type="arrow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760720" y="2633472"/>
            <a:ext cx="25603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6440" y="2679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E3B5"/>
                </a:solidFill>
              </a:rPr>
              <a:t>HKDF-Expand-Label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E3B5"/>
                </a:solidFill>
              </a:rPr>
              <a:t>'quic key', 'quic iv'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E3B5"/>
                </a:solidFill>
              </a:rPr>
              <a:t>'quic hp'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880360"/>
            <a:ext cx="274320" cy="9144"/>
          </a:xfrm>
          <a:prstGeom prst="line">
            <a:avLst/>
          </a:prstGeom>
          <a:noFill/>
          <a:ln w="19050">
            <a:solidFill>
              <a:srgbClr val="4AE3B5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760720" y="3547872"/>
            <a:ext cx="25603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06440" y="3593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Key Update via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KEY_UPDATE 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(RFC 9001 §6)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3794760"/>
            <a:ext cx="274320" cy="9144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20040" y="4297680"/>
            <a:ext cx="2011680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Forward Secrecy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DHE ensures past sessions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cannot be decrypted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4297680"/>
            <a:ext cx="2011680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6032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</a:rPr>
              <a:t>Replay Protection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6032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Anti-replay token required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for 0-RTT data (RFC 9000 §8.1)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17720" y="4297680"/>
            <a:ext cx="2011680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E3B5"/>
                </a:solidFill>
              </a:rPr>
              <a:t>Header Protection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Packet numbers encrypted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stops traffic analysis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66560" y="4297680"/>
            <a:ext cx="2011680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5800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E3B5"/>
                </a:solidFill>
              </a:rPr>
              <a:t>Key Rotation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In-flight key update without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connection interruption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12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3182112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07 — LOSS DETECTION (RFC 9002)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Loss Detection &amp; Congestion Control — RFC 9002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ACK Ranges &amp; Acknowledgment (RFC 9002 §2)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850392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</a:rPr>
              <a:t>ACK Frame: Largest Acknowledged | ACK Delay | ACK Range Count | First ACK Range | ACK Range (Gap + Range)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81912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544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QUIC ACK is SACK by default — no need for RFC 2018 extension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ACK Delay field: receiver reports processing delay → accurate RTT measurement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86537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Separate ACK spaces per epoch prevent cross-epoch ack confusion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048256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2082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Loss declared after kPacketThreshold (3) or kTimeThreshold (9/8 × RTT) — whichever first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3042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</a:rPr>
              <a:t>Congestion Control (RFC 9002 §7)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2011680" cy="137160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06040"/>
            <a:ext cx="201168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Slow Start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9992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cwnd doubles per RTT.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Ends at slow_start_threshold.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Identical to TCP New Reno.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2606040"/>
            <a:ext cx="2011680" cy="137160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606040"/>
            <a:ext cx="2011680" cy="54864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E3B5"/>
                </a:solidFill>
              </a:rPr>
              <a:t>Congestion Avoidance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29992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Linear cwnd growth after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SSthresh. Additive increase,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multiplicative decrease.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606040"/>
            <a:ext cx="2011680" cy="137160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606040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Loss Recovery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29992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PTO (Probe Timeout) fires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if no ACK within 2×smoothed_rtt.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Sends probe packet.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2606040"/>
            <a:ext cx="2011680" cy="137160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60604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ECN Support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29992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RFC 9000 §13.4: QUIC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supports IP ECN bits for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congestion signaling.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069080"/>
            <a:ext cx="850392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60520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22960" y="41330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BBR (Bottleneck Bandwidth &amp; RTT) — The Aviation Preferred Algorithm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2960" y="4370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BBR models bandwidth and RTT independently. Outperforms CUBIC on lossy and high-latency links (UAV satellite links, L-band data links). Recommended for GCS-to-aircraft QUIC connections.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13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871216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RFC 9000 §9 — CONNECTION MIGRATION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Connection Migration: QUIC's Killer Feature for Aviation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645920" cy="82296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GCS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4G LTE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1645920" cy="82296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Handover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(IP change)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1645920" cy="82296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E3B5"/>
                </a:solidFill>
              </a:rPr>
              <a:t>GCS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E3B5"/>
                </a:solidFill>
              </a:rPr>
              <a:t>SatLink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1783080"/>
            <a:ext cx="1188720" cy="9144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846320" y="1783080"/>
            <a:ext cx="1188720" cy="9144"/>
          </a:xfrm>
          <a:prstGeom prst="line">
            <a:avLst/>
          </a:prstGeom>
          <a:noFill/>
          <a:ln w="25400">
            <a:solidFill>
              <a:srgbClr val="4AE3B5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749040" y="2743200"/>
            <a:ext cx="1645920" cy="822960"/>
          </a:xfrm>
          <a:prstGeom prst="rect">
            <a:avLst/>
          </a:prstGeom>
          <a:solidFill>
            <a:srgbClr val="0F2137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834640"/>
            <a:ext cx="914400" cy="640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103120" y="1783080"/>
            <a:ext cx="2194560" cy="9875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ysDash"/>
          </a:ln>
        </p:spPr>
      </p:sp>
      <p:sp>
        <p:nvSpPr>
          <p:cNvPr id="20" name="Shape 17"/>
          <p:cNvSpPr/>
          <p:nvPr/>
        </p:nvSpPr>
        <p:spPr>
          <a:xfrm>
            <a:off x="4462272" y="2743200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ysDash"/>
          </a:ln>
        </p:spPr>
      </p:sp>
      <p:sp>
        <p:nvSpPr>
          <p:cNvPr id="21" name="Text 18"/>
          <p:cNvSpPr/>
          <p:nvPr/>
        </p:nvSpPr>
        <p:spPr>
          <a:xfrm>
            <a:off x="320040" y="3657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How Connection Migration Works (RFC 9000 §9)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0040" y="4005072"/>
            <a:ext cx="4206240" cy="402336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" y="4096512"/>
            <a:ext cx="228600" cy="2286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096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" y="40782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Client sends PATH_CHALLENGE on new path (new IP/port)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09160" y="4005072"/>
            <a:ext cx="4206240" cy="402336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4096512"/>
            <a:ext cx="228600" cy="22860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4096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20640" y="40782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Server responds with PATH_RESPONSE — validates reachability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0040" y="4480560"/>
            <a:ext cx="4206240" cy="402336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11480" y="4572000"/>
            <a:ext cx="228600" cy="22860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4572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1520" y="4553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Client migrates to new path using same Connection ID — no re-handshake!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09160" y="4480560"/>
            <a:ext cx="4206240" cy="402336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00600" y="4572000"/>
            <a:ext cx="228600" cy="22860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0600" y="4572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90F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20640" y="45537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RETIRE_CONNECTION_ID frames rotate IDs to prevent linkability attacks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818120" y="1188720"/>
            <a:ext cx="1188720" cy="228600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81812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TCP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863840" y="150876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IP change =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Full TCP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+TLS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re-handshake</a:t>
            </a:r>
            <a:endParaRPr lang="en-US" sz="750" dirty="0"/>
          </a:p>
          <a:p>
            <a:pPr marL="0" indent="0" algn="ctr">
              <a:buNone/>
            </a:pP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~200ms+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downtime</a:t>
            </a:r>
            <a:endParaRPr lang="en-US" sz="750" dirty="0"/>
          </a:p>
          <a:p>
            <a:pPr marL="0" indent="0" algn="ctr">
              <a:buNone/>
            </a:pP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❌ Unacceptable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for UAV links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7818120" y="1188720"/>
            <a:ext cx="11887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818120" y="1188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90F"/>
                </a:solidFill>
              </a:rPr>
              <a:t>TCP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14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78308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COMPARATIVE ANALYSIS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 vs TCP: Feature-by-Feature (RFC 9000)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85953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886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886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TCP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04688" y="886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QUIC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261872"/>
            <a:ext cx="8595360" cy="338328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Connection Setup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24912" y="1298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3-Way Handshake (1.5 RTT) + TLS (1 more RTT)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504688" y="1298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1-RTT (new) / 0-RTT (resumed)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97480" y="1261872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261872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609344"/>
            <a:ext cx="8595360" cy="338328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Security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24912" y="1645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Separate TLS layer — optional, bolted 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04688" y="1645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TLS 1.3 mandatory &amp; integral (RFC 9001)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97480" y="1609344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609344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956816"/>
            <a:ext cx="8595360" cy="338328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993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Head-of-Line Blocking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24912" y="1993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Single byte stream — one loss blocks all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04688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Independent streams — loss is isolated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97480" y="1956816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1956816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304288"/>
            <a:ext cx="8595360" cy="338328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Connection Migration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24912" y="23408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IP change = new connection (full handshake)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04688" y="2340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Seamless via Connection ID (RFC 9000 §9)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97480" y="2304288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304288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651760"/>
            <a:ext cx="8595360" cy="338328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688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Multiplexing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24912" y="26883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HTTP/2 SPDY-style, but still one TCP conn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04688" y="26883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Native stream multiplexing, no HoL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697480" y="2651760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2651760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999232"/>
            <a:ext cx="8595360" cy="338328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Middlebox Support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24912" y="30358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E3B5"/>
                </a:solidFill>
              </a:rPr>
              <a:t>Widely supported — firewalls, NAT, DPI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04688" y="3035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UDP port 443 — some firewalls block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697480" y="2999232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0" y="2999232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346704"/>
            <a:ext cx="8595360" cy="338328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CPU Overhead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2491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E3B5"/>
                </a:solidFill>
              </a:rPr>
              <a:t>Kernel-accelerated (hardware offload)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04688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User-space — higher CPU initially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697480" y="3346704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0" y="3346704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3694176"/>
            <a:ext cx="8595360" cy="338328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Header Encryption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24912" y="3730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Headers visible — allows ossification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504688" y="3730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Packet numbers encrypted — opaque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697480" y="3694176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0" y="3694176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041648"/>
            <a:ext cx="8595360" cy="338328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ECN Support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724912" y="40782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Yes (RFC 3168) — well deployed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504688" y="4078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Yes (RFC 9000 §13.4) — native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697480" y="4041648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0" y="4041648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4389120"/>
            <a:ext cx="8595360" cy="338328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" y="44256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Reliability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724912" y="44256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Reliable, ordered delivery guaranteed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504688" y="4425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Reliable per stream, or unreliable (RFC 9221)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697480" y="4389120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0" y="4389120"/>
            <a:ext cx="9144" cy="338328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15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32714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3271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SECTION 08 — AVIATION &amp; GCS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137">
              <a:alpha val="40000"/>
            </a:srgbClr>
          </a:solidFill>
          <a:ln w="12700">
            <a:solidFill>
              <a:srgbClr val="0F213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109728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4572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QUIC in Aviation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Ground Control Systems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32004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D4FF"/>
                </a:solidFill>
              </a:rPr>
              <a:t>Why legacy protocols threaten mission safety — and how QUIC solves it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20040" y="2103120"/>
            <a:ext cx="6217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40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176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UAV / RPAS Command &amp; Control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68680" y="24505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C2 link integrity is non-negotiable per ICAO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2816352"/>
            <a:ext cx="6217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535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28895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3B5"/>
                </a:solidFill>
              </a:rPr>
              <a:t>Satellite Data Link Redundancy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31638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L-band, Ku-band, Ka-band with IP handover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0040" y="3529584"/>
            <a:ext cx="6217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6674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</a:rPr>
              <a:t>ATC Ground System Messaging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68680" y="38770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ACARS replacement, ATN/IPS, surveillance data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20040" y="4242816"/>
            <a:ext cx="621792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379976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" y="4315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3B5"/>
                </a:solidFill>
              </a:rPr>
              <a:t>Cybersecurity in the Air Domain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68680" y="45902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QUIC's mandatory TLS 1.3 closes legacy vulnerabilities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16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638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UAV C2 — COMMAND &amp; CONTROL LINK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UAV C2 Data Link: Where QUIC Matters Most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828800" cy="320040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97280"/>
            <a:ext cx="1828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GCS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5544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527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Mission Planning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9842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956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Telemetry Display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41401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86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C2 Commands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8437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Video Feed Rx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27355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NOTAM Integration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371600"/>
            <a:ext cx="2743200" cy="164592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QUIC Transport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(RFC 9000)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C542"/>
                </a:solidFill>
              </a:rPr>
              <a:t>Stream 0: C2 Commands (priority)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91840" y="2240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Stream 1: Telemetry (reliable)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91840" y="2468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Stream 2: Video (partial reliable)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0" y="2697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Stream 3: Health/Status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40880" y="1097280"/>
            <a:ext cx="1828800" cy="320040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0" y="1097280"/>
            <a:ext cx="1828800" cy="54864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11704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E3B5"/>
                </a:solidFill>
              </a:rPr>
              <a:t>UAV</a:t>
            </a:r>
            <a:endParaRPr lang="en-US" sz="13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36192"/>
            <a:ext cx="1097280" cy="9144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150608" y="2606040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96912" y="2587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Nav Sensors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150608" y="2990088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96912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Actuators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150608" y="3374136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96912" y="3355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Camera/EO/IR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150608" y="3758184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96912" y="3739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ADS-B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103120" y="2148840"/>
            <a:ext cx="1097280" cy="9144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  <a:headEnd type="arrow"/>
            <a:tailEnd type="arrow"/>
          </a:ln>
        </p:spPr>
      </p:sp>
      <p:sp>
        <p:nvSpPr>
          <p:cNvPr id="41" name="Shape 38"/>
          <p:cNvSpPr/>
          <p:nvPr/>
        </p:nvSpPr>
        <p:spPr>
          <a:xfrm>
            <a:off x="5943600" y="2148840"/>
            <a:ext cx="1097280" cy="9144"/>
          </a:xfrm>
          <a:prstGeom prst="line">
            <a:avLst/>
          </a:prstGeom>
          <a:noFill/>
          <a:ln w="31750">
            <a:solidFill>
              <a:srgbClr val="4AE3B5"/>
            </a:solidFill>
            <a:prstDash val="solid"/>
            <a:headEnd type="arrow"/>
            <a:tailEnd type="arrow"/>
          </a:ln>
        </p:spPr>
      </p:sp>
      <p:sp>
        <p:nvSpPr>
          <p:cNvPr id="42" name="Text 39"/>
          <p:cNvSpPr/>
          <p:nvPr/>
        </p:nvSpPr>
        <p:spPr>
          <a:xfrm>
            <a:off x="2121408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QUIC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over LTE/SAT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961888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QUIC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over RF/LOS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200400" y="3200400"/>
            <a:ext cx="2743200" cy="91440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3246120" y="3246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</a:rPr>
              <a:t>Network Handover Scenario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246120" y="349300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LTE → 5G → Satcom: QUIC Connection ID migrates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seamlessly. Zero C2 link interruption during network switch.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274320" y="4416552"/>
            <a:ext cx="8595360" cy="411480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411480" y="4453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E3B5"/>
                </a:solidFill>
              </a:rPr>
              <a:t>STANAG 4586 / AEP-84: NATO standard for UAV interoperability — QUIC aligns with next-gen IP-based C2 data link requirements.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17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71576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TCP FAILURE IN FLIGHT OPERATIONS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TCP Fails in Real-World Flight Operations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1005840"/>
            <a:ext cx="9144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005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38912" y="987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Scenario 1: Handover During Approach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1261872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UAV transitions from VHF data link to 4G LTE at 3nm from threshold.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TCP connection drops — full 3-way handshake + TLS in 250ms+.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During this window: C2 commands are queued, not sent.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RFC 9000 fix: Connection ID persists across IP change. Zero downtime.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859536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40280"/>
            <a:ext cx="73152" cy="1234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2331720"/>
            <a:ext cx="91440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8912" y="2313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</a:rPr>
              <a:t>Scenario 2: Satellite Packet Loss (L-Band)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" y="2587752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L-band link has 2% random packet loss at edge of coverage.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HTTP/2 over TCP: ALL 20 multiplexed streams halt waiting for retransmit.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Latency spike: 400-800ms per loss event on real ATC data sessions.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RFC 9000 fix: Each stream independently recovers. Non-affected data flows.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73152" cy="12344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3657600"/>
            <a:ext cx="914400" cy="2743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MEDIUM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38912" y="36393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C542"/>
                </a:solidFill>
              </a:rPr>
              <a:t>Scenario 3: Middlebox Interference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8912" y="3913632"/>
            <a:ext cx="8001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Military-grade deep packet inspection modifies TCP timestamps and window scale.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TCP SACK options stripped — connection falls back to slow-start repeatedly.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Observed: 60% throughput reduction on C2 links through NATO tactical networks.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RFC 9000 fix: QUIC headers opaque to middleboxes. No QUIC ossification.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892040"/>
            <a:ext cx="8595360" cy="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18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482596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ATC &amp; SURVEILLANCE DATA LINKS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in ATC Systems: Ground Data Networking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RADAR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Processor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ADS-B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Ground Rx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C542"/>
                </a:solidFill>
              </a:rPr>
              <a:t>MLAT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C542"/>
                </a:solidFill>
              </a:rPr>
              <a:t>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19456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ATM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Fusion 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Controller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Workstation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246888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Adjacent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Center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749040"/>
            <a:ext cx="1737360" cy="6400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SWIM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E3B5"/>
                </a:solidFill>
              </a:rPr>
              <a:t>(ICAO)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1508760"/>
            <a:ext cx="822960" cy="100584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103120" y="2514600"/>
            <a:ext cx="822960" cy="27432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103120" y="2834640"/>
            <a:ext cx="822960" cy="123444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663440" y="1508760"/>
            <a:ext cx="822960" cy="100584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663440" y="2514600"/>
            <a:ext cx="822960" cy="27432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2514600"/>
            <a:ext cx="822960" cy="155448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103120" y="2377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QUIC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Streams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09160" y="2377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QUIC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Streams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15200" y="1097280"/>
            <a:ext cx="1645920" cy="329184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QUIC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Benefits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60920" y="1554480"/>
            <a:ext cx="155448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Sub-100ms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latency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60920" y="2084832"/>
            <a:ext cx="1554480" cy="45720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C542"/>
                </a:solidFill>
              </a:rPr>
              <a:t>Stream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4C542"/>
                </a:solidFill>
              </a:rPr>
              <a:t>priority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60920" y="2615184"/>
            <a:ext cx="155448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2615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E3B5"/>
                </a:solidFill>
              </a:rPr>
              <a:t>Encrypted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AE3B5"/>
                </a:solidFill>
              </a:rPr>
              <a:t>by default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60920" y="3145536"/>
            <a:ext cx="1554480" cy="45720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1455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E3B5"/>
                </a:solidFill>
              </a:rPr>
              <a:t>Survives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4AE3B5"/>
                </a:solidFill>
              </a:rPr>
              <a:t>link switch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60920" y="3675888"/>
            <a:ext cx="155448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3675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HTTP/3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ready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38328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E3B5"/>
                </a:solidFill>
              </a:rPr>
              <a:t>ICAO SWIM (System Wide Information Management): QUIC aligns with ATN/IPS IP-based communications. Planned replacement for ACARS over analog VHF.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19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948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STREAM PRIORITY — AVIATION USE CASE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Stream Priority for Flight-Critical 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RFC 9000 does not mandate priority — but HTTP/3 (RFC 9218) defines Extensible Prioritization Scheme. Critical for aviation.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85953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188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Stream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8448" y="118872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Emergency / Mayday / C2 Override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1170432"/>
            <a:ext cx="100584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170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URGENT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818120" y="1188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u=0, incremental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1417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Overrides all streams. Pre-empts bandwidth immediately.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1719072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719072"/>
            <a:ext cx="6858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810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Stream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98448" y="181051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Command &amp; Control (Pilot Commands)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1792224"/>
            <a:ext cx="100584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CRITICAL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818120" y="1810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20391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Sent as smallest possible QUIC frames. RTT-optimized.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340864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340864"/>
            <a:ext cx="5029200" cy="36576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432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</a:rPr>
              <a:t>Stream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98448" y="243230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Real-Time Telemetry (Position/Speed/Alt)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2414016"/>
            <a:ext cx="1005840" cy="219456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414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HIGH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818120" y="24323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" y="2660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Continuous high-frequency (10Hz+). Must never be blocked.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962656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962656"/>
            <a:ext cx="5029200" cy="36576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</a:rPr>
              <a:t>Stream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98448" y="305409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Surveillance Feed (ADS-B/MLAT)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20840" y="3035808"/>
            <a:ext cx="1005840" cy="219456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0358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HIGH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818120" y="3054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7472" y="32826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Radar returns and position fused. Latency &lt; 200ms.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584448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584448"/>
            <a:ext cx="2743200" cy="36576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675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E3B5"/>
                </a:solidFill>
              </a:rPr>
              <a:t>Stream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98448" y="36758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Video (HD sensor / situational awareness)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20840" y="3657600"/>
            <a:ext cx="1005840" cy="219456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36576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MEDIUM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818120" y="3675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7472" y="3904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Adaptive bitrate. Uses remaining bandwidth gracefully.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10182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4206240"/>
            <a:ext cx="1371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297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Stream 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298448" y="42976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Software Updates / Non-critical Logs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720840" y="4279392"/>
            <a:ext cx="100584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LOW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818120" y="4297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u=7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47472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Background. Sent only during idle link capacity windows.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20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3259836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3259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CYBERSECURITY — HOSTILE RF ENVIRONMENTS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Security in Contested/Hostile Environments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96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29968" y="896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TCP Exposure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93208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QUIC Mitigation (RFC 9000/9001)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8595360" cy="685800"/>
          </a:xfrm>
          <a:prstGeom prst="rect">
            <a:avLst/>
          </a:prstGeom>
          <a:solidFill>
            <a:srgbClr val="1018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18872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2618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TCP Session Hijacking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29968" y="1261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Sequence numbers visible → RST injection trivial on unencrypted tactical links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93208" y="1261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Packet numbers encrypted. Connection IDs rotated. No session state inferrable by attacker.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0" y="1188720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188720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947672"/>
            <a:ext cx="8595360" cy="685800"/>
          </a:xfrm>
          <a:prstGeom prst="rect">
            <a:avLst/>
          </a:prstGeom>
          <a:solidFill>
            <a:srgbClr val="07090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947672"/>
            <a:ext cx="54864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02082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</a:rPr>
              <a:t>Man-in-the-Middle (MITM)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29968" y="20208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TLS optional. Cleartext TCP used in many legacy GCS implementations.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93208" y="20208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TLS 1.3 mandatory (RFC 9001). Certificate pinning supported. No cleartext possible.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11680" y="1947672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1947672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706624"/>
            <a:ext cx="8595360" cy="68580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706624"/>
            <a:ext cx="54864" cy="6858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7797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C542"/>
                </a:solidFill>
              </a:rPr>
              <a:t>Traffic Analysis / Fingerprinting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29968" y="27797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Sequence numbers, port reuse, and TCP options leak flow characteristics.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93208" y="2779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Packet numbers encrypted (§5.4). Connection IDs rotated per-path. Spin bit is optional.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11680" y="2706624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2706624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465576"/>
            <a:ext cx="8595360" cy="685800"/>
          </a:xfrm>
          <a:prstGeom prst="rect">
            <a:avLst/>
          </a:prstGeom>
          <a:solidFill>
            <a:srgbClr val="07090F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65576"/>
            <a:ext cx="54864" cy="6858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53872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3B5"/>
                </a:solidFill>
              </a:rPr>
              <a:t>Replay Attacks (on 0-RTT)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29968" y="35387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N/A — TCP has no 0-RTT concept.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93208" y="3538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0-RTT tokens are single-use (RFC 9000 §8.1). Server can reject replayed tokens.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11680" y="3465576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4920" y="3465576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224528"/>
            <a:ext cx="54864" cy="6858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2976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E3B5"/>
                </a:solidFill>
              </a:rPr>
              <a:t>DoS / Amplification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029968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SYN flood well-understood. TCP Syncookies as mitigation.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93208" y="4297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</a:rPr>
              <a:t>Address Validation via RETRY packet (§8.1). Anti-amplification limit (3x). Stateless Reset tokens.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0" y="4224528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4224528"/>
            <a:ext cx="9144" cy="68580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21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93852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PERFORMANCE BENCHMARKS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 Performance: Real-World Data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Connection Setup Latency (RTT)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640080" cy="14081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</a:rPr>
              <a:t>3.5 RTT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TCP+TLS 1.3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54480" y="1280160"/>
            <a:ext cx="640080" cy="1810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0789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</a:rPr>
              <a:t>4.5 RTT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3136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TCP+TLS 1.2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60320" y="2688336"/>
            <a:ext cx="640080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87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</a:rPr>
              <a:t>1 RTT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0" y="3136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QUIC 1-RTT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566160" y="3050438"/>
            <a:ext cx="640080" cy="40234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84927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E3B5"/>
                </a:solidFill>
              </a:rPr>
              <a:t>0.1 RTT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3136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QUIC 0-RTT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374904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8686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Throughput Under 5% Packet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TCP (HTTP/2)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1651406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9126" y="1508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42%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QUIC (HTTP/3)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377440"/>
            <a:ext cx="3578047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95767" y="2377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91%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20116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630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C542"/>
                </a:solidFill>
              </a:rPr>
              <a:t>~60%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Google observed page load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improvement (QUIC vs TCP)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23160" y="3566160"/>
            <a:ext cx="20116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23160" y="3630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</a:rPr>
              <a:t>0-RTT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2514600" y="4251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Data sent with FIRST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packet on known servers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3566160"/>
            <a:ext cx="20116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0" y="3630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E3B5"/>
                </a:solidFill>
              </a:rPr>
              <a:t>3×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663440" y="4251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Less connection setup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latency vs TLS 1.2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20840" y="3566160"/>
            <a:ext cx="2011680" cy="12344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20840" y="3630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E3B5"/>
                </a:solidFill>
              </a:rPr>
              <a:t>99%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812280" y="4251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Uptime on handover —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tested on UAV LTE links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22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17170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DEPLOYMENT CONSIDERATIONS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Deploying QUIC: Practical Considerations for GCS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2788920" cy="388620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UDP Firewall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Advantages: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1480" y="16824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1664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UDP port 443 standard for QUIC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11480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193852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IETF has chosen port 443 deliberately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84048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Challenges: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24871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Legacy firewalls block UDP 443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11480" y="277977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27614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Deep packet inspection may classify as unknown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65760" y="3090672"/>
            <a:ext cx="260604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3154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FF"/>
                </a:solidFill>
              </a:rPr>
              <a:t>Recommendation: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84048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Configure tactical network firewalls explicitly for QUIC. Use ALTTSN extension.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200400" y="914400"/>
            <a:ext cx="2788920" cy="388620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914400"/>
            <a:ext cx="278892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0584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30752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</a:rPr>
              <a:t>CPU &amp; User-Space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3310128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Advantages: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337560" y="16824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93008" y="1664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Rapid protocol iteration without kernel patches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3337560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493008" y="193852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Can run custom congestion algorithms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310128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Challenges: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337560" y="25054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93008" y="24871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Higher CPU than kernel TCP stack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337560" y="277977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93008" y="27614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 hardware TSO/GRO offload yet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3291840" y="3090672"/>
            <a:ext cx="2606040" cy="274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310128" y="3154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C542"/>
                </a:solidFill>
              </a:rPr>
              <a:t>Recommendation: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10128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Use DPDK-based QUIC for high-throughput GCS nodes. Consider ARM Neon acceleration.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6126480" y="914400"/>
            <a:ext cx="2788920" cy="388620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126480" y="914400"/>
            <a:ext cx="2788920" cy="54864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05840"/>
            <a:ext cx="365760" cy="36576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656832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E3B5"/>
                </a:solidFill>
              </a:rPr>
              <a:t>Certificate Management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6236208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Advantages: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6263640" y="16824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19088" y="1664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TLS 1.3 mandatory — always secure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6263640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419088" y="193852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Certificate pinning easy to implement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6236208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Challenges: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263640" y="25054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419088" y="24871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PKI management overhead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6263640" y="277977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19088" y="27614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Certificate rotation requires QUIC key update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6217920" y="3090672"/>
            <a:ext cx="2606040" cy="27432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236208" y="31546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E3B5"/>
                </a:solidFill>
              </a:rPr>
              <a:t>Recommendation: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6236208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Establish automated PKI rotation. Use OCSP stapling. Plan for quantum-resistant certs.</a:t>
            </a:r>
            <a:endParaRPr lang="en-US" sz="750" dirty="0"/>
          </a:p>
        </p:txBody>
      </p:sp>
      <p:sp>
        <p:nvSpPr>
          <p:cNvPr id="60" name="Shape 55"/>
          <p:cNvSpPr/>
          <p:nvPr/>
        </p:nvSpPr>
        <p:spPr>
          <a:xfrm>
            <a:off x="274320" y="4892040"/>
            <a:ext cx="8595360" cy="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23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24942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QUIC VERSIONS &amp; EXTENSIONS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Ecosystem: Versions, Extensions &amp; Related RFCs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RFC 9000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36192" y="9875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QUIC: A UDP-Based Multiplexed and Secure Transport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36192" y="129844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Core spec. Defines connection lifecycle, frames, streams, migration.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9144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E3B5"/>
                </a:solidFill>
              </a:rPr>
              <a:t>RFC 9001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25312" y="98755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Using TLS to Secure QUIC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25312" y="129844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TLS 1.3 integration, key derivation, packet protection levels.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87452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87452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874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RFC 9002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36192" y="19476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QUIC Loss Detection and Congestion Control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36192" y="225856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PTO, RTT estimation, CUBIC/NewReno for QUIC, Explicit Congestion.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187452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7452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745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E3B5"/>
                </a:solidFill>
              </a:rPr>
              <a:t>RFC 9114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25312" y="19476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HTTP/3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25312" y="225856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HTTP semantics over QUIC streams. QPACK for header compression.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3464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34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C542"/>
                </a:solidFill>
              </a:rPr>
              <a:t>RFC 9204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36192" y="29077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QPACK: Field Compression for HTTP/3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36192" y="321868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Header compression without HoL. Uses two unidirectional streams.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83464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8346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RFC 9221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25312" y="290779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 Unreliable Datagram Extension to QUIC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25312" y="321868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DATAGRAM frames. Game-changing for real-time aviation telemetry.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79476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79476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94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RFC 9218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36192" y="38679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Extensible Prioritization Scheme for HTTP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36192" y="417880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Urgency + incremental parameters. Essential for GCS stream priority.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794760"/>
            <a:ext cx="4206240" cy="868680"/>
          </a:xfrm>
          <a:prstGeom prst="rect">
            <a:avLst/>
          </a:prstGeom>
          <a:solidFill>
            <a:srgbClr val="10182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794760"/>
            <a:ext cx="1188720" cy="868680"/>
          </a:xfrm>
          <a:prstGeom prst="rect">
            <a:avLst/>
          </a:prstGeom>
          <a:solidFill>
            <a:srgbClr val="0F213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794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</a:rPr>
              <a:t>QUIC-v2 (RFC 9369)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5312" y="38679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QUIC Version 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25312" y="417880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Compatible upgrade. New version negotiation. Proof-of-concept for extensibility.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C542"/>
                </a:solidFill>
              </a:rPr>
              <a:t>QUIC DATAGRAMS (RFC 9221) — Unreliable Mode: Enables fire-and-forget telemetry ideal for high-frequency position/sensor data where retransmission would cause stale-data problems.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24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17170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RFC 9221 — QUIC DATAGRAMS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RFC 9221: QUIC Datagrams — Unreliable Transport Over Encrypted Channels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896112"/>
            <a:ext cx="4206240" cy="210312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96112"/>
            <a:ext cx="42062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69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The Telemetry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1298448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• Position telemetry at 50Hz: older data is worthless if newer data arrives
• QUIC stream retransmit: 200ms stale telemetry delivered after gap
• UDP directly: works, but no encryption, no congestion awareness
• DTLS over UDP: separate handshake, no QUIC stream integration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96112"/>
            <a:ext cx="4206240" cy="210312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96112"/>
            <a:ext cx="42062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969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RFC 9221 Datagram Extension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1298448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• DATAGRAM frame type (0x30 / 0x31) in QUIC packet
• Encrypted within the QUIC connection (TLS 1.3 keys)
• No retransmission, no ordering, no delivery guarantee
• Subject to QUIC congestion control (won't flood link)
• Multiplexed alongside reliable streams in ONE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0906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542"/>
                </a:solidFill>
              </a:rPr>
              <a:t>Aviation Use Cases for QUIC Datagrams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4206240" cy="704088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01568"/>
            <a:ext cx="73152" cy="7040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High-Freq Telemetry (50Hz)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Position, attitude, velocity — send and forget. Freshest data always wins.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401568"/>
            <a:ext cx="4206240" cy="704088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401568"/>
            <a:ext cx="73152" cy="70408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ADS-B Rebroadcast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Real-time aircraft position dissemination. Loss-tolerant by design.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178808"/>
            <a:ext cx="4206240" cy="704088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78808"/>
            <a:ext cx="73152" cy="70408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542"/>
                </a:solidFill>
              </a:rPr>
              <a:t>Audio (ATC Voice over QUIC)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Low-latency voice over encrypted channel. WebRTC-style over QUIC.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4178808"/>
            <a:ext cx="4206240" cy="704088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178808"/>
            <a:ext cx="73152" cy="704088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Sensor Bursts / LIDAR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High-volume bursty sensor data. No stream head-of-line concerns.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25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78308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IMPLEMENTATION GUIDE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Implementation: Libraries &amp; Stack Selection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96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Library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Language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896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51960" y="896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896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Aviation Notes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18872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msquic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1280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Windows/Linux/macOS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51960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Very High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3212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Cross-platform, DoD-used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691640"/>
            <a:ext cx="8595360" cy="45720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691640"/>
            <a:ext cx="54864" cy="4572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783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E3B5"/>
                </a:solidFill>
              </a:rPr>
              <a:t>quiche (Cloudflare)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Rust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8892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Linux/embedded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51960" y="1783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Very 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Rust memory safety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194560"/>
            <a:ext cx="54864" cy="4572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</a:rPr>
              <a:t>aioquic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2286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Python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8892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Rapid prototyping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51960" y="2286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Medium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3212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GCS scripting/testing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2697480"/>
            <a:ext cx="8595360" cy="45720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697480"/>
            <a:ext cx="54864" cy="4572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E3B5"/>
                </a:solidFill>
              </a:rPr>
              <a:t>ngtcp2 + nghttp3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2788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8892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Linux/embedded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51960" y="27889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High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3212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Minimal footprint for embedded GCS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200400"/>
            <a:ext cx="859536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200400"/>
            <a:ext cx="54864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LSQUIC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91640" y="32918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8892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High-perf servers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51960" y="3291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Very High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321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LiteSpeed server-grade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703320"/>
            <a:ext cx="8595360" cy="45720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3703320"/>
            <a:ext cx="54864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3794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quic-go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91640" y="3794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Go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788920" y="3794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Microservices/ATM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251960" y="3794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High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3212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✓ ATM backend systems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43400"/>
            <a:ext cx="411480" cy="41148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868680" y="4279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Recommended GCS Stack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868680" y="45171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Embedded GCS: ngtcp2 + C (deterministic, low footprint)  |  Server-side ATM: quic-go or msquic  |  Rapid prototyping / testing: aioquic + Python  |  Security-critical C2: quiche (Rust, memory safe)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26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224942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MONITORING &amp; OBSERVABILITY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 Monitoring: What to Watch in Flight Operations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886968"/>
            <a:ext cx="859536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96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896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Threshold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896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to Measure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188720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261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RTT (Smoothed + Variance)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1261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&lt; 100ms (LOS)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0" y="1261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Via Spin Bit (§17.4) or QLOG events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772400" y="1243584"/>
            <a:ext cx="10058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243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CRITICAL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8595360" cy="41148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645920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7190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Packet Loss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1719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&lt; 1% (C2 streams)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7680" y="1719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ACK gap analysis, PTO counter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772400" y="1700784"/>
            <a:ext cx="10058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700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CRITICAL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2103120"/>
            <a:ext cx="8595360" cy="41148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103120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176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Congestion Window (CWND)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31720" y="2176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Monitor for collapses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0" y="2176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QLOG cwnd_updated events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72400" y="2157984"/>
            <a:ext cx="100584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HIGH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" y="2560320"/>
            <a:ext cx="8595360" cy="41148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560320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Connection Migrations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3172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Alert on &gt; 3/hour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97680" y="26334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NEW_CONNECTION_ID + PATH_CHALLENGE count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772400" y="2615184"/>
            <a:ext cx="100584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615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HIGH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" y="3017520"/>
            <a:ext cx="8595360" cy="41148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017520"/>
            <a:ext cx="54864" cy="4114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Stream Resets (RESET_STREAM)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31720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&lt; 0.1% of streams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297680" y="3090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RESET_STREAM frame counter per stream type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772400" y="3072384"/>
            <a:ext cx="1005840" cy="2743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3072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MEDIUM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74320" y="3474720"/>
            <a:ext cx="8595360" cy="41148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474720"/>
            <a:ext cx="54864" cy="4114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0-RTT Acceptance Rate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33172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Monitor for drops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768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Server-side rejection counter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772400" y="3529584"/>
            <a:ext cx="1005840" cy="2743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0" y="3529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MEDIUM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931920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0050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TLS Alert Rate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33172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Should be 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297680" y="40050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Handshake failure logs + RFC 9001 §6 alerts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772400" y="3986784"/>
            <a:ext cx="10058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CRITICAL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07090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4389120"/>
            <a:ext cx="54864" cy="41148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" y="44622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</a:rPr>
              <a:t>Datagram Drop Rate (RFC 9221)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3317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E3B5"/>
                </a:solidFill>
              </a:rPr>
              <a:t>&lt; 5% for telemetry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297680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DATAGRAM_DROPPED qlog event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772400" y="4443984"/>
            <a:ext cx="1005840" cy="2743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72400" y="4443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090F"/>
                </a:solidFill>
              </a:rPr>
              <a:t>MEDIUM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74320" y="4864608"/>
            <a:ext cx="8595360" cy="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C542"/>
                </a:solidFill>
              </a:rPr>
              <a:t>QLOG (draft-ietf-quic-qlog): Structured JSON logging for QUIC events. Essential for post-flight analysis and anomaly detection.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27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93852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STANDARDS &amp; COMPLIANCE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Aviation Standards Landscape: Where QUIC Fits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100584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14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ICAO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Annex 10 / ATN/IPS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53312" y="1005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Internet Protocol Suite for aeronautical telecom. QUIC aligns as transport layer.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1005840" cy="10058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914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EUROCAE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ED-136 / ED-137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742432" y="1005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VoIP and ATC communications. QUIC-based voice (RFC 9221 datagrams) complements.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01168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011680"/>
            <a:ext cx="1005840" cy="10058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011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FAA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NextGen / SWIM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53312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System Wide Information Management uses IP networking. QUIC HTTP/3 backend suitable.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011680"/>
            <a:ext cx="1005840" cy="10058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11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SESAR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51460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514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Digital European Sky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42432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5G/IP-based ATM communications. QUIC over 5G is an active research area.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108960"/>
            <a:ext cx="100584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1089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NATO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61188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STANAG 4586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353312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UAV C2 interoperability standard. IP-based C2 section maps well to QUIC.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108960"/>
            <a:ext cx="4206240" cy="1005840"/>
          </a:xfrm>
          <a:prstGeom prst="rect">
            <a:avLst/>
          </a:prstGeom>
          <a:solidFill>
            <a:srgbClr val="101828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108960"/>
            <a:ext cx="100584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089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90F"/>
                </a:solidFill>
              </a:rPr>
              <a:t>DO-326A/ED-202A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63440" y="3611880"/>
            <a:ext cx="10058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090F"/>
                </a:solidFill>
              </a:rPr>
              <a:t>Airworthiness Security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42432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QUIC's mandatory TLS 1.3 directly satisfies many DO-326A cryptographic requirements.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F2137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89120"/>
            <a:ext cx="365760" cy="36576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22960" y="4343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</a:rPr>
              <a:t>DO-326A Alignment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QUIC's TLS 1.3 integration satisfies DO-326A §6 (cryptographic protection), §7 (access control), and §9 (data integrity). Deployment must include threat/risk assessment per DO-326A §5.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28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627632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THE FUTURE OF QUIC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What's Next: QUIC Evolution &amp; Aviation Roadmap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6984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069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QUIC v2 (RFC 9369)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161848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Versioning proof-of-concept. Establishes precedent for protocol evolution without middlebox interference.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72968" y="96012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960120"/>
            <a:ext cx="2743200" cy="457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06984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13048" y="1069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C542"/>
                </a:solidFill>
              </a:rPr>
              <a:t>Multipath QUIC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64408" y="161848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draft-ietf-quic-multipath: Multiple network paths simultaneously. Dual LTE+Sat for zero-downtime handover.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71616" y="96012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71616" y="960120"/>
            <a:ext cx="2743200" cy="457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06984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11696" y="1069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Post-Quantum QUIC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63056" y="161848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NIST PQC algorithms (CRYSTALS-Kyber) integration into QUIC TLS. Critical for long-term avionics systems.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834640"/>
            <a:ext cx="2743200" cy="4572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4436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E3B5"/>
                </a:solidFill>
              </a:rPr>
              <a:t>QUIC over 5G/NTN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65760" y="349300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Non-Terrestrial Networks (LEO satellite). 3GPP 5G NTN + QUIC = next-gen BVLOS data link.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172968" y="283464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2834640"/>
            <a:ext cx="27432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94436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13048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Media over QUIC (MoQ)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264408" y="349300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draft-ietf-moq-transport: Live streaming over QUIC. EO/IR video from UAV over QUIC natively.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6071616" y="2834640"/>
            <a:ext cx="2743200" cy="1691640"/>
          </a:xfrm>
          <a:prstGeom prst="rect">
            <a:avLst/>
          </a:prstGeom>
          <a:solidFill>
            <a:srgbClr val="10182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71616" y="2834640"/>
            <a:ext cx="27432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2944368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11696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QUIC-aware Hardware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6163056" y="349300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FPGA/ASIC QUIC accelerators (Pensando, Nvidia DOCA). Hardware packet protection offload for GCS.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solidFill>
            <a:srgbClr val="0F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11480" y="4773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D4FF"/>
                </a:solidFill>
              </a:rPr>
              <a:t>QUIC is not just a protocol upgrade — it is the transport layer for the next 30 years of connected aviation.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29 / 30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"/>
            <a:ext cx="1549908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"/>
            <a:ext cx="15499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90F"/>
                </a:solidFill>
              </a:rPr>
              <a:t>MIGRATION ROADMAP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GCS Migration Roadmap: TCP to QUIC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206240" cy="1810512"/>
          </a:xfrm>
          <a:prstGeom prst="rect">
            <a:avLst/>
          </a:prstGeom>
          <a:solidFill>
            <a:srgbClr val="101828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4206240" cy="4572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60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0F"/>
                </a:solidFill>
              </a:rPr>
              <a:t>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033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0F"/>
                </a:solidFill>
              </a:rPr>
              <a:t>Assessment &amp; PKI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7090F"/>
                </a:solidFill>
              </a:rPr>
              <a:t>Month 1-2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527048"/>
            <a:ext cx="91440" cy="914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499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Audit existing GCS TCP+TLS stack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828800"/>
            <a:ext cx="91440" cy="914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8013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Identify middleboxes blocking UDP 443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130552"/>
            <a:ext cx="91440" cy="914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103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Deploy internal PKI for certificate management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432304"/>
            <a:ext cx="91440" cy="9144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4048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Select QUIC library (msquic or quiche recommended)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206240" cy="1810512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960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0F"/>
                </a:solidFill>
              </a:rPr>
              <a:t>Phase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1033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0F"/>
                </a:solidFill>
              </a:rPr>
              <a:t>Parallel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7090F"/>
                </a:solidFill>
              </a:rPr>
              <a:t>Month 3-5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1527048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499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Deploy QUIC alongside TCP (ALTTSN extension)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1828800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8013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Shadow traffic: compare latency TCP vs QUIC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130552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1031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Validate stream prioritization for C2 vs telemetry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2432304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40487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Test connection migration across LTE/Satcom handover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926080"/>
            <a:ext cx="4206240" cy="1810512"/>
          </a:xfrm>
          <a:prstGeom prst="rect">
            <a:avLst/>
          </a:prstGeom>
          <a:solidFill>
            <a:srgbClr val="101828"/>
          </a:solidFill>
          <a:ln w="12700">
            <a:solidFill>
              <a:srgbClr val="4AE3B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926080"/>
            <a:ext cx="4206240" cy="45720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0F"/>
                </a:solidFill>
              </a:rPr>
              <a:t>Phase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0F"/>
                </a:solidFill>
              </a:rPr>
              <a:t>Security Hardening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7090F"/>
                </a:solidFill>
              </a:rPr>
              <a:t>Month 5-6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493008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465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Implement 0-RTT anti-replay tokens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794760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Configure DATAGRAM frames for telemetry streams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4096512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4069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DO-326A threat model update for QUIC attack surface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4398264"/>
            <a:ext cx="91440" cy="91440"/>
          </a:xfrm>
          <a:prstGeom prst="ellipse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3708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Penetration testing: path migration, DCID rotation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926080"/>
            <a:ext cx="4206240" cy="1810512"/>
          </a:xfrm>
          <a:prstGeom prst="rect">
            <a:avLst/>
          </a:prstGeom>
          <a:solidFill>
            <a:srgbClr val="1018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2926080"/>
            <a:ext cx="420624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90F"/>
                </a:solidFill>
              </a:rPr>
              <a:t>Phase 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715000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0F"/>
                </a:solidFill>
              </a:rPr>
              <a:t>Full Cutover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86384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7090F"/>
                </a:solidFill>
              </a:rPr>
              <a:t>Month 6-9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00600" y="349300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3465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Decommission TCP fallback after stability validation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37673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Enable BBR congestion control for satellite links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00600" y="409651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6048" y="40690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Integrate QLOG for operational monitoring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00600" y="439826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43708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STANAG 4586 compliance documentation update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"/>
            <a:ext cx="24688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640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QUIC is Aviation's Transport Protocol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365760" y="1572768"/>
            <a:ext cx="73152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5727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TCP was built for 1981 — RFC 9000 QUIC is built for the next 30 years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2029968"/>
            <a:ext cx="73152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20299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0-RTT connection, stream multiplexing, and HoL-free design eliminate critical latency failures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487168"/>
            <a:ext cx="73152" cy="32004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487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Connection migration ensures zero-downtime C2 link handover — no TCP restart, no data gap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944368"/>
            <a:ext cx="73152" cy="320040"/>
          </a:xfrm>
          <a:prstGeom prst="rect">
            <a:avLst/>
          </a:prstGeom>
          <a:solidFill>
            <a:srgbClr val="4AE3B5"/>
          </a:solidFill>
          <a:ln w="12700">
            <a:solidFill>
              <a:srgbClr val="4AE3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9443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TLS 1.3 mandatory encryption aligns directly with DO-326A airworthiness security requirements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401568"/>
            <a:ext cx="73152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3401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RFC 9221 QUIC Datagrams enable unreliable-but-encrypted telemetry — ideal for high-frequency ADS-B/telemetry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858768"/>
            <a:ext cx="73152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" y="38587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Multipath QUIC + 5G NTN will define the BVLOS communication architecture of the 2030s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F213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Reference Standard: RFC 9000 (QUIC) · RFC 9001 (QUIC-TLS) · RFC 9002 (Congestion) · RFC 9221 (Datagrams) · RFC 9114 (HTTP/3)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0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50017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</a:rPr>
              <a:t>QUIC Protocol — RFC 9000  |  Confidential Briefing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229600" y="500176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0D4FF"/>
                </a:solidFill>
              </a:rPr>
              <a:t>30 /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4485</Words>
  <Application>Microsoft Office PowerPoint</Application>
  <PresentationFormat>On-screen Show (16:9)</PresentationFormat>
  <Paragraphs>888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 Protocol — RFC 9000 Deep Dive</dc:title>
  <dc:subject>PptxGenJS Presentation</dc:subject>
  <dc:creator>Distinguished Technical Fellow</dc:creator>
  <cp:lastModifiedBy>Saharsh Kumar</cp:lastModifiedBy>
  <cp:revision>2</cp:revision>
  <dcterms:created xsi:type="dcterms:W3CDTF">2026-03-22T18:53:37Z</dcterms:created>
  <dcterms:modified xsi:type="dcterms:W3CDTF">2026-03-22T18:56:27Z</dcterms:modified>
</cp:coreProperties>
</file>