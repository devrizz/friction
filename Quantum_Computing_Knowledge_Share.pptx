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480000">
            <a:off x="-274320" y="3474720"/>
            <a:ext cx="10058400" cy="73152"/>
          </a:xfrm>
          <a:prstGeom prst="rect">
            <a:avLst/>
          </a:prstGeom>
          <a:solidFill>
            <a:srgbClr val="00C8FF"/>
          </a:solidFill>
          <a:ln/>
        </p:spPr>
      </p:sp>
      <p:sp>
        <p:nvSpPr>
          <p:cNvPr id="3" name="Shape 1"/>
          <p:cNvSpPr/>
          <p:nvPr/>
        </p:nvSpPr>
        <p:spPr>
          <a:xfrm rot="-480000">
            <a:off x="-274320" y="4023360"/>
            <a:ext cx="10058400" cy="36576"/>
          </a:xfrm>
          <a:prstGeom prst="rect">
            <a:avLst/>
          </a:prstGeom>
          <a:solidFill>
            <a:srgbClr val="7B4FFF"/>
          </a:solidFill>
          <a:ln/>
        </p:spPr>
      </p:sp>
      <p:sp>
        <p:nvSpPr>
          <p:cNvPr id="4" name="Shape 2"/>
          <p:cNvSpPr/>
          <p:nvPr/>
        </p:nvSpPr>
        <p:spPr>
          <a:xfrm>
            <a:off x="1097280" y="548640"/>
            <a:ext cx="64008" cy="64008"/>
          </a:xfrm>
          <a:prstGeom prst="ellipse">
            <a:avLst/>
          </a:prstGeom>
          <a:solidFill>
            <a:srgbClr val="00C8FF">
              <a:alpha val="6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7772400" y="731520"/>
            <a:ext cx="64008" cy="64008"/>
          </a:xfrm>
          <a:prstGeom prst="ellipse">
            <a:avLst/>
          </a:prstGeom>
          <a:solidFill>
            <a:srgbClr val="00C8FF">
              <a:alpha val="6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8412480" y="1920240"/>
            <a:ext cx="64008" cy="64008"/>
          </a:xfrm>
          <a:prstGeom prst="ellipse">
            <a:avLst/>
          </a:prstGeom>
          <a:solidFill>
            <a:srgbClr val="00C8FF">
              <a:alpha val="6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4389120"/>
            <a:ext cx="64008" cy="64008"/>
          </a:xfrm>
          <a:prstGeom prst="ellipse">
            <a:avLst/>
          </a:prstGeom>
          <a:solidFill>
            <a:srgbClr val="00C8FF">
              <a:alpha val="6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2560320" y="4663440"/>
            <a:ext cx="64008" cy="64008"/>
          </a:xfrm>
          <a:prstGeom prst="ellipse">
            <a:avLst/>
          </a:prstGeom>
          <a:solidFill>
            <a:srgbClr val="00C8FF">
              <a:alpha val="6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6492240" y="4480560"/>
            <a:ext cx="64008" cy="64008"/>
          </a:xfrm>
          <a:prstGeom prst="ellipse">
            <a:avLst/>
          </a:prstGeom>
          <a:solidFill>
            <a:srgbClr val="00C8FF">
              <a:alpha val="6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0" y="274320"/>
            <a:ext cx="64008" cy="64008"/>
          </a:xfrm>
          <a:prstGeom prst="ellipse">
            <a:avLst/>
          </a:prstGeom>
          <a:solidFill>
            <a:srgbClr val="00C8FF">
              <a:alpha val="6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3291840" y="1371600"/>
            <a:ext cx="64008" cy="64008"/>
          </a:xfrm>
          <a:prstGeom prst="ellipse">
            <a:avLst/>
          </a:prstGeom>
          <a:solidFill>
            <a:srgbClr val="00C8FF">
              <a:alpha val="6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5852160" y="3474720"/>
            <a:ext cx="64008" cy="64008"/>
          </a:xfrm>
          <a:prstGeom prst="ellipse">
            <a:avLst/>
          </a:prstGeom>
          <a:solidFill>
            <a:srgbClr val="00C8FF">
              <a:alpha val="6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9144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Computing</a:t>
            </a:r>
            <a:endParaRPr lang="en-US" sz="5200" dirty="0"/>
          </a:p>
        </p:txBody>
      </p:sp>
      <p:sp>
        <p:nvSpPr>
          <p:cNvPr id="14" name="Text 12"/>
          <p:cNvSpPr/>
          <p:nvPr/>
        </p:nvSpPr>
        <p:spPr>
          <a:xfrm>
            <a:off x="457200" y="20116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i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Harnessing the Power of Qubits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Classical Physics → Quantum Revolution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22960" y="4297680"/>
            <a:ext cx="1828800" cy="411480"/>
          </a:xfrm>
          <a:prstGeom prst="rect">
            <a:avLst/>
          </a:prstGeom>
          <a:solidFill>
            <a:srgbClr val="111E45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431596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Boeing &amp; Aviation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743200" y="4297680"/>
            <a:ext cx="1828800" cy="411480"/>
          </a:xfrm>
          <a:prstGeom prst="rect">
            <a:avLst/>
          </a:prstGeom>
          <a:solidFill>
            <a:srgbClr val="111E45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0" y="431596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663440" y="4297680"/>
            <a:ext cx="1828800" cy="411480"/>
          </a:xfrm>
          <a:prstGeom prst="rect">
            <a:avLst/>
          </a:prstGeom>
          <a:solidFill>
            <a:srgbClr val="111E45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63440" y="431596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Cryptography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583680" y="4297680"/>
            <a:ext cx="1828800" cy="411480"/>
          </a:xfrm>
          <a:prstGeom prst="rect">
            <a:avLst/>
          </a:prstGeom>
          <a:solidFill>
            <a:srgbClr val="111E45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83680" y="431596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of Humanity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E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— UN International Year of Quantum Science &amp; Technology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7B4FFF"/>
          </a:solidFill>
          <a:ln/>
        </p:spPr>
      </p:sp>
      <p:sp>
        <p:nvSpPr>
          <p:cNvPr id="3" name="Text 1"/>
          <p:cNvSpPr/>
          <p:nvPr/>
        </p:nvSpPr>
        <p:spPr>
          <a:xfrm>
            <a:off x="201168" y="164592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Journey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01168" y="822960"/>
            <a:ext cx="8503920" cy="27432"/>
          </a:xfrm>
          <a:prstGeom prst="rect">
            <a:avLst/>
          </a:prstGeom>
          <a:solidFill>
            <a:srgbClr val="7B4FFF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1005840"/>
            <a:ext cx="4114800" cy="777240"/>
          </a:xfrm>
          <a:prstGeom prst="rect">
            <a:avLst/>
          </a:prstGeom>
          <a:solidFill>
            <a:srgbClr val="111E45"/>
          </a:solidFill>
          <a:ln w="10160">
            <a:solidFill>
              <a:srgbClr val="00C8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05840"/>
            <a:ext cx="502920" cy="777240"/>
          </a:xfrm>
          <a:prstGeom prst="rect">
            <a:avLst/>
          </a:prstGeom>
          <a:solidFill>
            <a:srgbClr val="00C8FF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005840"/>
            <a:ext cx="502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0F2E"/>
                </a:solidFill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60120" y="1005840"/>
            <a:ext cx="3429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World &amp; Its Limits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1005840"/>
            <a:ext cx="4114800" cy="777240"/>
          </a:xfrm>
          <a:prstGeom prst="rect">
            <a:avLst/>
          </a:prstGeom>
          <a:solidFill>
            <a:srgbClr val="111E45"/>
          </a:solidFill>
          <a:ln w="10160">
            <a:solidFill>
              <a:srgbClr val="7B4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54880" y="1005840"/>
            <a:ext cx="502920" cy="777240"/>
          </a:xfrm>
          <a:prstGeom prst="rect">
            <a:avLst/>
          </a:prstGeom>
          <a:solidFill>
            <a:srgbClr val="7B4FFF"/>
          </a:solidFill>
          <a:ln/>
        </p:spPr>
      </p:sp>
      <p:sp>
        <p:nvSpPr>
          <p:cNvPr id="11" name="Text 9"/>
          <p:cNvSpPr/>
          <p:nvPr/>
        </p:nvSpPr>
        <p:spPr>
          <a:xfrm>
            <a:off x="4754880" y="1005840"/>
            <a:ext cx="502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0F2E"/>
                </a:solidFill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349240" y="1005840"/>
            <a:ext cx="3429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Birth of Quantum Mechanics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1965960"/>
            <a:ext cx="4114800" cy="777240"/>
          </a:xfrm>
          <a:prstGeom prst="rect">
            <a:avLst/>
          </a:prstGeom>
          <a:solidFill>
            <a:srgbClr val="111E45"/>
          </a:solidFill>
          <a:ln w="10160">
            <a:solidFill>
              <a:srgbClr val="00E5A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1965960"/>
            <a:ext cx="502920" cy="777240"/>
          </a:xfrm>
          <a:prstGeom prst="rect">
            <a:avLst/>
          </a:prstGeom>
          <a:solidFill>
            <a:srgbClr val="00E5A0"/>
          </a:solidFill>
          <a:ln/>
        </p:spPr>
      </p:sp>
      <p:sp>
        <p:nvSpPr>
          <p:cNvPr id="15" name="Text 13"/>
          <p:cNvSpPr/>
          <p:nvPr/>
        </p:nvSpPr>
        <p:spPr>
          <a:xfrm>
            <a:off x="365760" y="1965960"/>
            <a:ext cx="502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0F2E"/>
                </a:solidFill>
              </a:rPr>
              <a:t>03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60120" y="1965960"/>
            <a:ext cx="3429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Qubit?  Superposition &amp; Entanglement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754880" y="1965960"/>
            <a:ext cx="4114800" cy="777240"/>
          </a:xfrm>
          <a:prstGeom prst="rect">
            <a:avLst/>
          </a:prstGeom>
          <a:solidFill>
            <a:srgbClr val="111E45"/>
          </a:solidFill>
          <a:ln w="10160">
            <a:solidFill>
              <a:srgbClr val="FFD16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54880" y="1965960"/>
            <a:ext cx="502920" cy="777240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19" name="Text 17"/>
          <p:cNvSpPr/>
          <p:nvPr/>
        </p:nvSpPr>
        <p:spPr>
          <a:xfrm>
            <a:off x="4754880" y="1965960"/>
            <a:ext cx="502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0F2E"/>
                </a:solidFill>
              </a:rPr>
              <a:t>04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349240" y="1965960"/>
            <a:ext cx="3429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Quantum Computers Work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65760" y="2926080"/>
            <a:ext cx="4114800" cy="777240"/>
          </a:xfrm>
          <a:prstGeom prst="rect">
            <a:avLst/>
          </a:prstGeom>
          <a:solidFill>
            <a:srgbClr val="111E45"/>
          </a:solidFill>
          <a:ln w="10160">
            <a:solidFill>
              <a:srgbClr val="FF6B6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" y="2926080"/>
            <a:ext cx="502920" cy="77724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23" name="Text 21"/>
          <p:cNvSpPr/>
          <p:nvPr/>
        </p:nvSpPr>
        <p:spPr>
          <a:xfrm>
            <a:off x="365760" y="2926080"/>
            <a:ext cx="502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0F2E"/>
                </a:solidFill>
              </a:rPr>
              <a:t>05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60120" y="2926080"/>
            <a:ext cx="3429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Boeing &amp; Aviation: Real World Impact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754880" y="2926080"/>
            <a:ext cx="4114800" cy="777240"/>
          </a:xfrm>
          <a:prstGeom prst="rect">
            <a:avLst/>
          </a:prstGeom>
          <a:solidFill>
            <a:srgbClr val="111E45"/>
          </a:solidFill>
          <a:ln w="10160">
            <a:solidFill>
              <a:srgbClr val="00C8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754880" y="2926080"/>
            <a:ext cx="502920" cy="777240"/>
          </a:xfrm>
          <a:prstGeom prst="rect">
            <a:avLst/>
          </a:prstGeom>
          <a:solidFill>
            <a:srgbClr val="00C8FF"/>
          </a:solidFill>
          <a:ln/>
        </p:spPr>
      </p:sp>
      <p:sp>
        <p:nvSpPr>
          <p:cNvPr id="27" name="Text 25"/>
          <p:cNvSpPr/>
          <p:nvPr/>
        </p:nvSpPr>
        <p:spPr>
          <a:xfrm>
            <a:off x="4754880" y="2926080"/>
            <a:ext cx="502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0F2E"/>
                </a:solidFill>
              </a:rPr>
              <a:t>06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349240" y="2926080"/>
            <a:ext cx="3429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Healthcare, Cryptography &amp; Beyond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65760" y="3886200"/>
            <a:ext cx="4114800" cy="777240"/>
          </a:xfrm>
          <a:prstGeom prst="rect">
            <a:avLst/>
          </a:prstGeom>
          <a:solidFill>
            <a:srgbClr val="111E45"/>
          </a:solidFill>
          <a:ln w="10160">
            <a:solidFill>
              <a:srgbClr val="7B4F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65760" y="3886200"/>
            <a:ext cx="502920" cy="777240"/>
          </a:xfrm>
          <a:prstGeom prst="rect">
            <a:avLst/>
          </a:prstGeom>
          <a:solidFill>
            <a:srgbClr val="7B4FFF"/>
          </a:solidFill>
          <a:ln/>
        </p:spPr>
      </p:sp>
      <p:sp>
        <p:nvSpPr>
          <p:cNvPr id="31" name="Text 29"/>
          <p:cNvSpPr/>
          <p:nvPr/>
        </p:nvSpPr>
        <p:spPr>
          <a:xfrm>
            <a:off x="365760" y="3886200"/>
            <a:ext cx="502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0F2E"/>
                </a:solidFill>
              </a:rPr>
              <a:t>07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960120" y="3886200"/>
            <a:ext cx="3429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&amp; The Road Ahead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754880" y="3886200"/>
            <a:ext cx="4114800" cy="777240"/>
          </a:xfrm>
          <a:prstGeom prst="rect">
            <a:avLst/>
          </a:prstGeom>
          <a:solidFill>
            <a:srgbClr val="111E45"/>
          </a:solidFill>
          <a:ln w="10160">
            <a:solidFill>
              <a:srgbClr val="00E5A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754880" y="3886200"/>
            <a:ext cx="502920" cy="777240"/>
          </a:xfrm>
          <a:prstGeom prst="rect">
            <a:avLst/>
          </a:prstGeom>
          <a:solidFill>
            <a:srgbClr val="00E5A0"/>
          </a:solidFill>
          <a:ln/>
        </p:spPr>
      </p:sp>
      <p:sp>
        <p:nvSpPr>
          <p:cNvPr id="35" name="Text 33"/>
          <p:cNvSpPr/>
          <p:nvPr/>
        </p:nvSpPr>
        <p:spPr>
          <a:xfrm>
            <a:off x="4754880" y="3886200"/>
            <a:ext cx="502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0F2E"/>
                </a:solidFill>
              </a:rPr>
              <a:t>08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5349240" y="3886200"/>
            <a:ext cx="3429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Wisdom from the Giants — Q&amp;A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C8FF"/>
          </a:solidFill>
          <a:ln/>
        </p:spPr>
      </p:sp>
      <p:sp>
        <p:nvSpPr>
          <p:cNvPr id="3" name="Text 1"/>
          <p:cNvSpPr/>
          <p:nvPr/>
        </p:nvSpPr>
        <p:spPr>
          <a:xfrm>
            <a:off x="201168" y="164592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Classical World — What We Know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01168" y="822960"/>
            <a:ext cx="8503920" cy="27432"/>
          </a:xfrm>
          <a:prstGeom prst="rect">
            <a:avLst/>
          </a:prstGeom>
          <a:solidFill>
            <a:srgbClr val="00C8FF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914400"/>
            <a:ext cx="43891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around us follows Newton's laws.
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Objects have a definite position, speed, and state — always predictable.
</a:t>
            </a:r>
            <a:pPr indent="0" marL="0">
              <a:buNone/>
            </a:pPr>
            <a:r>
              <a:rPr lang="en-US" sz="14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computers work the same way:
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use </a:t>
            </a:r>
            <a:pPr indent="0" marL="0">
              <a:buNone/>
            </a:pPr>
            <a:r>
              <a:rPr lang="en-US" sz="13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BITS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each is either  </a:t>
            </a:r>
            <a:pPr indent="0" marL="0">
              <a:buNone/>
            </a:pPr>
            <a:r>
              <a:rPr lang="en-US" sz="13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OR 1.
</a:t>
            </a:r>
            <a:pPr indent="0" marL="0">
              <a:buNone/>
            </a:pPr>
            <a:r>
              <a:rPr lang="en-US" sz="13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app, AI system, GPS — all run on this binary logic.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846320" y="914400"/>
            <a:ext cx="4023360" cy="3200400"/>
          </a:xfrm>
          <a:prstGeom prst="rect">
            <a:avLst/>
          </a:prstGeom>
          <a:solidFill>
            <a:srgbClr val="111E45"/>
          </a:solidFill>
          <a:ln w="6350">
            <a:solidFill>
              <a:srgbClr val="7B4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0" y="96012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C8FF"/>
                </a:solidFill>
              </a:rPr>
              <a:t>Classical Bit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212080" y="1554480"/>
            <a:ext cx="1280160" cy="1280160"/>
          </a:xfrm>
          <a:prstGeom prst="ellipse">
            <a:avLst/>
          </a:prstGeom>
          <a:solidFill>
            <a:srgbClr val="1B3060"/>
          </a:solidFill>
          <a:ln w="25400">
            <a:solidFill>
              <a:srgbClr val="00C8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212080" y="1554480"/>
            <a:ext cx="1280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0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6537960" y="192024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D166"/>
                </a:solidFill>
              </a:rPr>
              <a:t>OR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269480" y="1554480"/>
            <a:ext cx="1280160" cy="1280160"/>
          </a:xfrm>
          <a:prstGeom prst="ellipse">
            <a:avLst/>
          </a:prstGeom>
          <a:solidFill>
            <a:srgbClr val="1B3060"/>
          </a:solidFill>
          <a:ln w="25400">
            <a:solidFill>
              <a:srgbClr val="00E5A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269480" y="1554480"/>
            <a:ext cx="1280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1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4846320" y="292608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E90B0"/>
                </a:solidFill>
              </a:rPr>
              <a:t>Never both at once — always definite!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4251960"/>
            <a:ext cx="8412480" cy="594360"/>
          </a:xfrm>
          <a:prstGeom prst="rect">
            <a:avLst/>
          </a:prstGeom>
          <a:solidFill>
            <a:srgbClr val="2A0A0A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427024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Limitation: Some problems have trillions of variables — classical computers take longer than the age of the universe to solve them.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7B4FFF"/>
          </a:solidFill>
          <a:ln/>
        </p:spPr>
      </p:sp>
      <p:sp>
        <p:nvSpPr>
          <p:cNvPr id="3" name="Text 1"/>
          <p:cNvSpPr/>
          <p:nvPr/>
        </p:nvSpPr>
        <p:spPr>
          <a:xfrm>
            <a:off x="201168" y="164592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Quantum Mechanics — Nature's Deepest Rules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01168" y="822960"/>
            <a:ext cx="8503920" cy="27432"/>
          </a:xfrm>
          <a:prstGeom prst="rect">
            <a:avLst/>
          </a:prstGeom>
          <a:solidFill>
            <a:srgbClr val="7B4FFF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914400"/>
            <a:ext cx="8412480" cy="1005840"/>
          </a:xfrm>
          <a:prstGeom prst="rect">
            <a:avLst/>
          </a:prstGeom>
          <a:solidFill>
            <a:srgbClr val="111E45"/>
          </a:solidFill>
          <a:ln w="12700">
            <a:solidFill>
              <a:srgbClr val="7B4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60120"/>
            <a:ext cx="8046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7B4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</a:t>
            </a:r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Nature isn't classical, dammit, and if you want to make a simulation of nature,</a:t>
            </a:r>
            <a:endParaRPr lang="en-US" sz="3200" dirty="0"/>
          </a:p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you'd better make it quantum mechanical.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7B4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"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874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E90B0"/>
                </a:solidFill>
              </a:rPr>
              <a:t>— Richard Feynman, 1981 (Physics of Computation Conference)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4320" y="2286000"/>
            <a:ext cx="4206240" cy="1188720"/>
          </a:xfrm>
          <a:prstGeom prst="rect">
            <a:avLst/>
          </a:prstGeom>
          <a:solidFill>
            <a:srgbClr val="111E45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2286000"/>
            <a:ext cx="64008" cy="1188720"/>
          </a:xfrm>
          <a:prstGeom prst="rect">
            <a:avLst/>
          </a:prstGeom>
          <a:solidFill>
            <a:srgbClr val="00C8FF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3317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Wave-Particle Duality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2633472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 behaves as a wave AND a particle.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photon passes through two slits at once!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709160" y="2286000"/>
            <a:ext cx="4206240" cy="1188720"/>
          </a:xfrm>
          <a:prstGeom prst="rect">
            <a:avLst/>
          </a:prstGeom>
          <a:solidFill>
            <a:srgbClr val="111E45"/>
          </a:solidFill>
          <a:ln w="12700">
            <a:solidFill>
              <a:srgbClr val="7B4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09160" y="2286000"/>
            <a:ext cx="64008" cy="1188720"/>
          </a:xfrm>
          <a:prstGeom prst="rect">
            <a:avLst/>
          </a:prstGeom>
          <a:solidFill>
            <a:srgbClr val="7B4FFF"/>
          </a:solidFill>
          <a:ln/>
        </p:spPr>
      </p:sp>
      <p:sp>
        <p:nvSpPr>
          <p:cNvPr id="14" name="Text 12"/>
          <p:cNvSpPr/>
          <p:nvPr/>
        </p:nvSpPr>
        <p:spPr>
          <a:xfrm>
            <a:off x="4892040" y="23317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B4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Probabilistic Nature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92040" y="2633472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atomic scales, we can only predict probabilities of outcomes — not exact results.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274320" y="3657600"/>
            <a:ext cx="4206240" cy="1188720"/>
          </a:xfrm>
          <a:prstGeom prst="rect">
            <a:avLst/>
          </a:prstGeom>
          <a:solidFill>
            <a:srgbClr val="111E45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" y="3657600"/>
            <a:ext cx="64008" cy="1188720"/>
          </a:xfrm>
          <a:prstGeom prst="rect">
            <a:avLst/>
          </a:prstGeom>
          <a:solidFill>
            <a:srgbClr val="00E5A0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37033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Superposition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4005072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quantum object exists in multiple states simultaneously — until observed.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709160" y="3657600"/>
            <a:ext cx="4206240" cy="1188720"/>
          </a:xfrm>
          <a:prstGeom prst="rect">
            <a:avLst/>
          </a:prstGeom>
          <a:solidFill>
            <a:srgbClr val="111E45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09160" y="3657600"/>
            <a:ext cx="64008" cy="1188720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22" name="Text 20"/>
          <p:cNvSpPr/>
          <p:nvPr/>
        </p:nvSpPr>
        <p:spPr>
          <a:xfrm>
            <a:off x="4892040" y="37033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Entanglement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892040" y="4005072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particles can be linked — measuring one instantly affects the other, regardless of distance.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E5A0"/>
          </a:solidFill>
          <a:ln/>
        </p:spPr>
      </p:sp>
      <p:sp>
        <p:nvSpPr>
          <p:cNvPr id="3" name="Text 1"/>
          <p:cNvSpPr/>
          <p:nvPr/>
        </p:nvSpPr>
        <p:spPr>
          <a:xfrm>
            <a:off x="201168" y="164592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Qubit? — The Quantum Bit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01168" y="822960"/>
            <a:ext cx="8503920" cy="27432"/>
          </a:xfrm>
          <a:prstGeom prst="rect">
            <a:avLst/>
          </a:prstGeom>
          <a:solidFill>
            <a:srgbClr val="00E5A0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960120"/>
            <a:ext cx="3931920" cy="3840480"/>
          </a:xfrm>
          <a:prstGeom prst="rect">
            <a:avLst/>
          </a:prstGeom>
          <a:solidFill>
            <a:srgbClr val="111E45"/>
          </a:solidFill>
          <a:ln w="10160">
            <a:solidFill>
              <a:srgbClr val="7E90B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0584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E90B0"/>
                </a:solidFill>
              </a:rPr>
              <a:t>CLASSICAL BIT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234440" y="1600200"/>
            <a:ext cx="2011680" cy="2011680"/>
          </a:xfrm>
          <a:prstGeom prst="ellipse">
            <a:avLst/>
          </a:prstGeom>
          <a:solidFill>
            <a:srgbClr val="1A2A55"/>
          </a:solidFill>
          <a:ln w="25400">
            <a:solidFill>
              <a:srgbClr val="7E90B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34440" y="1600200"/>
            <a:ext cx="20116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0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or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1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365760" y="3703320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C8D8F0"/>
                </a:solidFill>
              </a:rPr>
              <a:t>Definite. Like a coin lying flat —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i="1" dirty="0">
                <a:solidFill>
                  <a:srgbClr val="C8D8F0"/>
                </a:solidFill>
              </a:rPr>
              <a:t>Heads OR Tails.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251960" y="23774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D166"/>
                </a:solidFill>
              </a:rPr>
              <a:t>VS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937760" y="960120"/>
            <a:ext cx="3931920" cy="3840480"/>
          </a:xfrm>
          <a:prstGeom prst="rect">
            <a:avLst/>
          </a:prstGeom>
          <a:solidFill>
            <a:srgbClr val="111E45"/>
          </a:solidFill>
          <a:ln w="19050">
            <a:solidFill>
              <a:srgbClr val="00E5A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0" y="100584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E5A0"/>
                </a:solidFill>
              </a:rPr>
              <a:t>QUBIT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897880" y="1600200"/>
            <a:ext cx="2011680" cy="2011680"/>
          </a:xfrm>
          <a:prstGeom prst="ellipse">
            <a:avLst/>
          </a:prstGeom>
          <a:solidFill>
            <a:srgbClr val="12204A"/>
          </a:solidFill>
          <a:ln w="25400">
            <a:solidFill>
              <a:srgbClr val="00E5A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897880" y="2606040"/>
            <a:ext cx="2011680" cy="27432"/>
          </a:xfrm>
          <a:prstGeom prst="rect">
            <a:avLst/>
          </a:prstGeom>
          <a:solidFill>
            <a:srgbClr val="00E5A0">
              <a:alpha val="6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5897880" y="1600200"/>
            <a:ext cx="20116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E5A0"/>
                </a:solidFill>
              </a:rPr>
              <a:t>0 + 1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6766560" y="1627632"/>
            <a:ext cx="292608" cy="292608"/>
          </a:xfrm>
          <a:prstGeom prst="ellipse">
            <a:avLst/>
          </a:prstGeom>
          <a:solidFill>
            <a:srgbClr val="FFD166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0" y="3703320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00E5A0"/>
                </a:solidFill>
              </a:rPr>
              <a:t>Superposition! Like a spinning coin —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i="1" dirty="0">
                <a:solidFill>
                  <a:srgbClr val="00E5A0"/>
                </a:solidFill>
              </a:rPr>
              <a:t>0 AND 1 simultaneously.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274320" y="4846320"/>
            <a:ext cx="8412480" cy="228600"/>
          </a:xfrm>
          <a:prstGeom prst="rect">
            <a:avLst/>
          </a:prstGeom>
          <a:solidFill>
            <a:srgbClr val="0E1A3D"/>
          </a:solidFill>
          <a:ln/>
        </p:spPr>
      </p:sp>
      <p:sp>
        <p:nvSpPr>
          <p:cNvPr id="19" name="Text 17"/>
          <p:cNvSpPr/>
          <p:nvPr/>
        </p:nvSpPr>
        <p:spPr>
          <a:xfrm>
            <a:off x="365760" y="48463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Just 300 qubits can represent more states than there are atoms in the observable universe!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C8FF"/>
          </a:solidFill>
          <a:ln/>
        </p:spPr>
      </p:sp>
      <p:sp>
        <p:nvSpPr>
          <p:cNvPr id="3" name="Text 1"/>
          <p:cNvSpPr/>
          <p:nvPr/>
        </p:nvSpPr>
        <p:spPr>
          <a:xfrm>
            <a:off x="201168" y="164592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Superposition &amp; Entanglement — The Magic Ingredients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01168" y="822960"/>
            <a:ext cx="8503920" cy="27432"/>
          </a:xfrm>
          <a:prstGeom prst="rect">
            <a:avLst/>
          </a:prstGeom>
          <a:solidFill>
            <a:srgbClr val="00C8FF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960120"/>
            <a:ext cx="4160520" cy="3931920"/>
          </a:xfrm>
          <a:prstGeom prst="rect">
            <a:avLst/>
          </a:prstGeom>
          <a:solidFill>
            <a:srgbClr val="111E45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058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8FF"/>
                </a:solidFill>
              </a:rPr>
              <a:t>⚛  SUPERPOSITION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508760"/>
            <a:ext cx="3931920" cy="685800"/>
          </a:xfrm>
          <a:prstGeom prst="rect">
            <a:avLst/>
          </a:prstGeom>
          <a:solidFill>
            <a:srgbClr val="0E1A3D"/>
          </a:solidFill>
          <a:ln w="6350">
            <a:solidFill>
              <a:srgbClr val="7E90B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55448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E90B0"/>
                </a:solidFill>
              </a:rPr>
              <a:t>Still Coin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828800" y="155448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Heads OR Tails  →  Like a Classical Bit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286000"/>
            <a:ext cx="3931920" cy="685800"/>
          </a:xfrm>
          <a:prstGeom prst="rect">
            <a:avLst/>
          </a:prstGeom>
          <a:solidFill>
            <a:srgbClr val="0E1A3D"/>
          </a:solidFill>
          <a:ln w="6350">
            <a:solidFill>
              <a:srgbClr val="00E5A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33172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E5A0"/>
                </a:solidFill>
              </a:rPr>
              <a:t>Spinning Coin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828800" y="233172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Heads AND Tails  →  Like a Qubit!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5760" y="3154680"/>
            <a:ext cx="384048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qubit is measured, superposition collapses and gives a definite result. The power is in computing WITH superposition before measuring.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663440" y="960120"/>
            <a:ext cx="4206240" cy="3931920"/>
          </a:xfrm>
          <a:prstGeom prst="rect">
            <a:avLst/>
          </a:prstGeom>
          <a:solidFill>
            <a:srgbClr val="111E45"/>
          </a:solidFill>
          <a:ln w="12700">
            <a:solidFill>
              <a:srgbClr val="7B4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0" y="10058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B4FFF"/>
                </a:solidFill>
              </a:rPr>
              <a:t>🔗  ENTANGLEMENT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846320" y="1508760"/>
            <a:ext cx="1371600" cy="1371600"/>
          </a:xfrm>
          <a:prstGeom prst="ellipse">
            <a:avLst/>
          </a:prstGeom>
          <a:solidFill>
            <a:srgbClr val="1A1040"/>
          </a:solidFill>
          <a:ln w="25400">
            <a:solidFill>
              <a:srgbClr val="7B4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46320" y="150876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A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7223760" y="1508760"/>
            <a:ext cx="1371600" cy="1371600"/>
          </a:xfrm>
          <a:prstGeom prst="ellipse">
            <a:avLst/>
          </a:prstGeom>
          <a:solidFill>
            <a:srgbClr val="1A1040"/>
          </a:solidFill>
          <a:ln w="25400">
            <a:solidFill>
              <a:srgbClr val="7B4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223760" y="150876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B</a:t>
            </a:r>
            <a:endParaRPr lang="en-US" sz="2800" dirty="0"/>
          </a:p>
        </p:txBody>
      </p:sp>
      <p:sp>
        <p:nvSpPr>
          <p:cNvPr id="20" name="Shape 18"/>
          <p:cNvSpPr/>
          <p:nvPr/>
        </p:nvSpPr>
        <p:spPr>
          <a:xfrm>
            <a:off x="6217920" y="2167128"/>
            <a:ext cx="1005840" cy="54864"/>
          </a:xfrm>
          <a:prstGeom prst="rect">
            <a:avLst/>
          </a:prstGeom>
          <a:solidFill>
            <a:srgbClr val="7B4FFF"/>
          </a:solidFill>
          <a:ln/>
        </p:spPr>
      </p:sp>
      <p:sp>
        <p:nvSpPr>
          <p:cNvPr id="21" name="Text 19"/>
          <p:cNvSpPr/>
          <p:nvPr/>
        </p:nvSpPr>
        <p:spPr>
          <a:xfrm>
            <a:off x="5394960" y="228600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B4FFF"/>
                </a:solidFill>
              </a:rPr>
              <a:t>⟵ Quantum Link ⟶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754880" y="3063240"/>
            <a:ext cx="39319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qubits become permanently linked. Measure one — the other INSTANTLY knows its state, even if separated by light-years.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Einstein called it 'spooky action at a distance.'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enables quantum teleportation of information and unhackable communication.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3" name="Text 1"/>
          <p:cNvSpPr/>
          <p:nvPr/>
        </p:nvSpPr>
        <p:spPr>
          <a:xfrm>
            <a:off x="201168" y="164592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Quantum Computer Works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01168" y="822960"/>
            <a:ext cx="8503920" cy="27432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5" name="Shape 3"/>
          <p:cNvSpPr/>
          <p:nvPr/>
        </p:nvSpPr>
        <p:spPr>
          <a:xfrm>
            <a:off x="164592" y="1005840"/>
            <a:ext cx="1600200" cy="3291840"/>
          </a:xfrm>
          <a:prstGeom prst="rect">
            <a:avLst/>
          </a:prstGeom>
          <a:solidFill>
            <a:srgbClr val="111E45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4652" y="1097280"/>
            <a:ext cx="640080" cy="640080"/>
          </a:xfrm>
          <a:prstGeom prst="ellipse">
            <a:avLst/>
          </a:prstGeom>
          <a:solidFill>
            <a:srgbClr val="00C8FF"/>
          </a:solidFill>
          <a:ln/>
        </p:spPr>
      </p:sp>
      <p:sp>
        <p:nvSpPr>
          <p:cNvPr id="7" name="Text 5"/>
          <p:cNvSpPr/>
          <p:nvPr/>
        </p:nvSpPr>
        <p:spPr>
          <a:xfrm>
            <a:off x="644652" y="1097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0F2E"/>
                </a:solidFill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10312" y="1874520"/>
            <a:ext cx="1508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C8FF"/>
                </a:solidFill>
              </a:rPr>
              <a:t>Initialize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37744" y="2331720"/>
            <a:ext cx="14630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Qubits are set to a known state (ground state)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near absolute zero (−273°C)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764792" y="2606040"/>
            <a:ext cx="182880" cy="36576"/>
          </a:xfrm>
          <a:prstGeom prst="rect">
            <a:avLst/>
          </a:prstGeom>
          <a:solidFill>
            <a:srgbClr val="00C8FF"/>
          </a:solidFill>
          <a:ln/>
        </p:spPr>
      </p:sp>
      <p:sp>
        <p:nvSpPr>
          <p:cNvPr id="11" name="Text 9"/>
          <p:cNvSpPr/>
          <p:nvPr/>
        </p:nvSpPr>
        <p:spPr>
          <a:xfrm>
            <a:off x="1883664" y="2487168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C8FF"/>
                </a:solidFill>
              </a:rPr>
              <a:t>▶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947672" y="1005840"/>
            <a:ext cx="1600200" cy="3291840"/>
          </a:xfrm>
          <a:prstGeom prst="rect">
            <a:avLst/>
          </a:prstGeom>
          <a:solidFill>
            <a:srgbClr val="111E45"/>
          </a:solidFill>
          <a:ln w="12700">
            <a:solidFill>
              <a:srgbClr val="7B4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427732" y="1097280"/>
            <a:ext cx="640080" cy="640080"/>
          </a:xfrm>
          <a:prstGeom prst="ellipse">
            <a:avLst/>
          </a:prstGeom>
          <a:solidFill>
            <a:srgbClr val="7B4FFF"/>
          </a:solidFill>
          <a:ln/>
        </p:spPr>
      </p:sp>
      <p:sp>
        <p:nvSpPr>
          <p:cNvPr id="14" name="Text 12"/>
          <p:cNvSpPr/>
          <p:nvPr/>
        </p:nvSpPr>
        <p:spPr>
          <a:xfrm>
            <a:off x="2427732" y="1097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0F2E"/>
                </a:solidFill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993392" y="1874520"/>
            <a:ext cx="1508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B4FFF"/>
                </a:solidFill>
              </a:rPr>
              <a:t>Superpose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020824" y="2331720"/>
            <a:ext cx="14630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gates put qubits into superposition —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exploring ALL possible states simultaneously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547872" y="2606040"/>
            <a:ext cx="182880" cy="36576"/>
          </a:xfrm>
          <a:prstGeom prst="rect">
            <a:avLst/>
          </a:prstGeom>
          <a:solidFill>
            <a:srgbClr val="7B4FFF"/>
          </a:solidFill>
          <a:ln/>
        </p:spPr>
      </p:sp>
      <p:sp>
        <p:nvSpPr>
          <p:cNvPr id="18" name="Text 16"/>
          <p:cNvSpPr/>
          <p:nvPr/>
        </p:nvSpPr>
        <p:spPr>
          <a:xfrm>
            <a:off x="3666744" y="2487168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B4FFF"/>
                </a:solidFill>
              </a:rPr>
              <a:t>▶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730752" y="1005840"/>
            <a:ext cx="1600200" cy="3291840"/>
          </a:xfrm>
          <a:prstGeom prst="rect">
            <a:avLst/>
          </a:prstGeom>
          <a:solidFill>
            <a:srgbClr val="111E45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210812" y="1097280"/>
            <a:ext cx="640080" cy="640080"/>
          </a:xfrm>
          <a:prstGeom prst="ellipse">
            <a:avLst/>
          </a:prstGeom>
          <a:solidFill>
            <a:srgbClr val="00E5A0"/>
          </a:solidFill>
          <a:ln/>
        </p:spPr>
      </p:sp>
      <p:sp>
        <p:nvSpPr>
          <p:cNvPr id="21" name="Text 19"/>
          <p:cNvSpPr/>
          <p:nvPr/>
        </p:nvSpPr>
        <p:spPr>
          <a:xfrm>
            <a:off x="4210812" y="1097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0F2E"/>
                </a:solidFill>
              </a:rPr>
              <a:t>3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3776472" y="1874520"/>
            <a:ext cx="1508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E5A0"/>
                </a:solidFill>
              </a:rPr>
              <a:t>Entangle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803904" y="2331720"/>
            <a:ext cx="14630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Qubits are entangled to create quantum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correlations across the system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330952" y="2606040"/>
            <a:ext cx="182880" cy="36576"/>
          </a:xfrm>
          <a:prstGeom prst="rect">
            <a:avLst/>
          </a:prstGeom>
          <a:solidFill>
            <a:srgbClr val="00E5A0"/>
          </a:solidFill>
          <a:ln/>
        </p:spPr>
      </p:sp>
      <p:sp>
        <p:nvSpPr>
          <p:cNvPr id="25" name="Text 23"/>
          <p:cNvSpPr/>
          <p:nvPr/>
        </p:nvSpPr>
        <p:spPr>
          <a:xfrm>
            <a:off x="5449824" y="2487168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E5A0"/>
                </a:solidFill>
              </a:rPr>
              <a:t>▶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513832" y="1005840"/>
            <a:ext cx="1600200" cy="3291840"/>
          </a:xfrm>
          <a:prstGeom prst="rect">
            <a:avLst/>
          </a:prstGeom>
          <a:solidFill>
            <a:srgbClr val="111E45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993892" y="1097280"/>
            <a:ext cx="640080" cy="640080"/>
          </a:xfrm>
          <a:prstGeom prst="ellipse">
            <a:avLst/>
          </a:prstGeom>
          <a:solidFill>
            <a:srgbClr val="FFD166"/>
          </a:solidFill>
          <a:ln/>
        </p:spPr>
      </p:sp>
      <p:sp>
        <p:nvSpPr>
          <p:cNvPr id="28" name="Text 26"/>
          <p:cNvSpPr/>
          <p:nvPr/>
        </p:nvSpPr>
        <p:spPr>
          <a:xfrm>
            <a:off x="5993892" y="1097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0F2E"/>
                </a:solidFill>
              </a:rPr>
              <a:t>4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5559552" y="1874520"/>
            <a:ext cx="1508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D166"/>
                </a:solidFill>
              </a:rPr>
              <a:t>Interfere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586984" y="2331720"/>
            <a:ext cx="14630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interference amplifies correct answers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cancels wrong ones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7114032" y="2606040"/>
            <a:ext cx="182880" cy="36576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32" name="Text 30"/>
          <p:cNvSpPr/>
          <p:nvPr/>
        </p:nvSpPr>
        <p:spPr>
          <a:xfrm>
            <a:off x="7232904" y="2487168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D166"/>
                </a:solidFill>
              </a:rPr>
              <a:t>▶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7296912" y="1005840"/>
            <a:ext cx="1600200" cy="3291840"/>
          </a:xfrm>
          <a:prstGeom prst="rect">
            <a:avLst/>
          </a:prstGeom>
          <a:solidFill>
            <a:srgbClr val="111E45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776972" y="1097280"/>
            <a:ext cx="640080" cy="640080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35" name="Text 33"/>
          <p:cNvSpPr/>
          <p:nvPr/>
        </p:nvSpPr>
        <p:spPr>
          <a:xfrm>
            <a:off x="7776972" y="1097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0F2E"/>
                </a:solidFill>
              </a:rPr>
              <a:t>5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7342632" y="1874520"/>
            <a:ext cx="1508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6B6B"/>
                </a:solidFill>
              </a:rPr>
              <a:t>Measure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7370064" y="2331720"/>
            <a:ext cx="14630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qubits collapses superposition —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delivering the optimized result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274320" y="4480560"/>
            <a:ext cx="8412480" cy="548640"/>
          </a:xfrm>
          <a:prstGeom prst="rect">
            <a:avLst/>
          </a:prstGeom>
          <a:solidFill>
            <a:srgbClr val="0E1A3D"/>
          </a:solidFill>
          <a:ln w="10160">
            <a:solidFill>
              <a:srgbClr val="FFD16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11480" y="4498848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Unlike classical computing which tests one path at a time, quantum computing explores ALL paths simultaneously — then selects the best answer.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3" name="Text 1"/>
          <p:cNvSpPr/>
          <p:nvPr/>
        </p:nvSpPr>
        <p:spPr>
          <a:xfrm>
            <a:off x="201168" y="164592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Boeing &amp; Aviation — Quantum Takes Flight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01168" y="822960"/>
            <a:ext cx="8503920" cy="27432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91440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Boeing is not just watching the quantum revolution unfold — it is actively shaping it.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371600"/>
            <a:ext cx="4160520" cy="1600200"/>
          </a:xfrm>
          <a:prstGeom prst="rect">
            <a:avLst/>
          </a:prstGeom>
          <a:solidFill>
            <a:srgbClr val="111E45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4630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✈ 787 Dreamliner Composites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1828800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Boeing partnered with IBM Quantum to optimize ply composite design for the 787. Each component has 100,000+ variables (strand angles). Quantum can solve this without breaking it into smaller pieces — critical for lighter, stronger aircraft.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09160" y="1371600"/>
            <a:ext cx="4160520" cy="1600200"/>
          </a:xfrm>
          <a:prstGeom prst="rect">
            <a:avLst/>
          </a:prstGeom>
          <a:solidFill>
            <a:srgbClr val="111E45"/>
          </a:solidFill>
          <a:ln w="12700">
            <a:solidFill>
              <a:srgbClr val="7B4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0" y="14630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B4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🛰 Q4S Satellite Mission (2026)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46320" y="1828800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Boeing is launching its own quantum satellite — Q4S — to demonstrate quantum entanglement swapping in orbit. This lays the foundation for a global quantum internet connecting sensors and computers securely.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74320" y="3154680"/>
            <a:ext cx="4160520" cy="1600200"/>
          </a:xfrm>
          <a:prstGeom prst="rect">
            <a:avLst/>
          </a:prstGeom>
          <a:solidFill>
            <a:srgbClr val="111E45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32461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🧭 Quantum Navigation Sensors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11480" y="3611880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Boeing is developing quantum sensors for navigation that are unjammable and GPS-independent — using the Earth's magnetic field for ultra-precise positioning. Critical for defense and aviation reliability.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709160" y="3154680"/>
            <a:ext cx="4160520" cy="1600200"/>
          </a:xfrm>
          <a:prstGeom prst="rect">
            <a:avLst/>
          </a:prstGeom>
          <a:solidFill>
            <a:srgbClr val="111E45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6320" y="32461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Quantum-Safe Security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46320" y="3611880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Boeing is pioneering quantum encryption for avionics, communications, and defense systems. Quantum Key Distribution (QKD) ensures unhackable data for the most sensitive aerospace systems.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74320" y="4828032"/>
            <a:ext cx="8412480" cy="256032"/>
          </a:xfrm>
          <a:prstGeom prst="rect">
            <a:avLst/>
          </a:prstGeom>
          <a:solidFill>
            <a:srgbClr val="1A0505"/>
          </a:solidFill>
          <a:ln w="10160">
            <a:solidFill>
              <a:srgbClr val="FF6B6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482803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"We're making a big bet on quantum technology." — Jay Lowell, Chief Engineer, Boeing Disruptive Computing &amp; Networks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E5A0"/>
          </a:solidFill>
          <a:ln/>
        </p:spPr>
      </p:sp>
      <p:sp>
        <p:nvSpPr>
          <p:cNvPr id="3" name="Text 1"/>
          <p:cNvSpPr/>
          <p:nvPr/>
        </p:nvSpPr>
        <p:spPr>
          <a:xfrm>
            <a:off x="201168" y="164592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— Saving Lives at Quantum Speed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01168" y="822960"/>
            <a:ext cx="8503920" cy="27432"/>
          </a:xfrm>
          <a:prstGeom prst="rect">
            <a:avLst/>
          </a:prstGeom>
          <a:solidFill>
            <a:srgbClr val="00E5A0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91440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quantum computing healthcare market: $200M (2024) → projected $4.1B by 2035  (37.86% CAGR)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371600"/>
            <a:ext cx="4160520" cy="1600200"/>
          </a:xfrm>
          <a:prstGeom prst="rect">
            <a:avLst/>
          </a:prstGeom>
          <a:solidFill>
            <a:srgbClr val="111E45"/>
          </a:solidFill>
          <a:ln w="10160">
            <a:solidFill>
              <a:srgbClr val="00E5A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46304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💊  Drug Discovery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1828800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simulates molecular interactions at the atomic level. In 2025, IonQ ran a medical device simulation that outperformed classical HPC by 12%. Drug development timelines could shrink from decades to years.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09160" y="1371600"/>
            <a:ext cx="4160520" cy="1600200"/>
          </a:xfrm>
          <a:prstGeom prst="rect">
            <a:avLst/>
          </a:prstGeom>
          <a:solidFill>
            <a:srgbClr val="111E45"/>
          </a:solidFill>
          <a:ln w="10160">
            <a:solidFill>
              <a:srgbClr val="00E5A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0" y="146304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🧬  Genomics &amp; Personalized Medicine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46320" y="1828800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Genomic data analysis weeks → under 24 hours. Quantum identifies genetic markers for diseases at exponentially faster speeds — enabling truly personalized treatments.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74320" y="3154680"/>
            <a:ext cx="4160520" cy="1600200"/>
          </a:xfrm>
          <a:prstGeom prst="rect">
            <a:avLst/>
          </a:prstGeom>
          <a:solidFill>
            <a:srgbClr val="111E45"/>
          </a:solidFill>
          <a:ln w="10160">
            <a:solidFill>
              <a:srgbClr val="00E5A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324612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🔬  Protein Folding &amp; Materials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11480" y="3611880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Google's quantum computer can model molecular structure (NMR). Understanding how proteins fold helps design cancer therapies — problems impossible for classical computers.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709160" y="3154680"/>
            <a:ext cx="4160520" cy="1600200"/>
          </a:xfrm>
          <a:prstGeom prst="rect">
            <a:avLst/>
          </a:prstGeom>
          <a:solidFill>
            <a:srgbClr val="111E45"/>
          </a:solidFill>
          <a:ln w="10160">
            <a:solidFill>
              <a:srgbClr val="00E5A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6320" y="324612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  Healthcare Data Security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46320" y="3611880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Key Distribution (QKD) protects patient records with unbreakable encryption. With cyber-attacks on hospitals rising, quantum cryptography is now a critical shield.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74320" y="4828032"/>
            <a:ext cx="8412480" cy="256032"/>
          </a:xfrm>
          <a:prstGeom prst="rect">
            <a:avLst/>
          </a:prstGeom>
          <a:solidFill>
            <a:srgbClr val="0A1F0A"/>
          </a:solidFill>
          <a:ln w="10160">
            <a:solidFill>
              <a:srgbClr val="00E5A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482803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00E5A0"/>
                </a:solidFill>
              </a:rPr>
              <a:t>  "Quantum computing-enhanced NMR could become a powerful tool in drug discovery." — Google Quantum AI Blog, 2025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7B4FFF"/>
          </a:solidFill>
          <a:ln/>
        </p:spPr>
      </p:sp>
      <p:sp>
        <p:nvSpPr>
          <p:cNvPr id="3" name="Text 1"/>
          <p:cNvSpPr/>
          <p:nvPr/>
        </p:nvSpPr>
        <p:spPr>
          <a:xfrm>
            <a:off x="201168" y="164592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Cryptography — The Two-Sided Quantum Sword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01168" y="822960"/>
            <a:ext cx="8503920" cy="27432"/>
          </a:xfrm>
          <a:prstGeom prst="rect">
            <a:avLst/>
          </a:prstGeom>
          <a:solidFill>
            <a:srgbClr val="7B4FFF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960120"/>
            <a:ext cx="4114800" cy="4023360"/>
          </a:xfrm>
          <a:prstGeom prst="rect">
            <a:avLst/>
          </a:prstGeom>
          <a:solidFill>
            <a:srgbClr val="180A0A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0584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6B6B"/>
                </a:solidFill>
              </a:rPr>
              <a:t>⚠ THREAT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11480" y="1508760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RSA &amp; current encryption relies on the difficulty of factoring large numbers.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2167128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 May 2025, Google made breaking RSA 20x easier using quantum algorithms.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" y="2825496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"Harvest now, decrypt later" — adversaries store encrypted data TODAY to decrypt when quantum computers mature.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3483864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NIST issued emergency post-quantum cryptography standards in August 2024.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1480" y="4142232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Transition to quantum-safe systems could take a DECADE — start NOW.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0" y="960120"/>
            <a:ext cx="4297680" cy="4023360"/>
          </a:xfrm>
          <a:prstGeom prst="rect">
            <a:avLst/>
          </a:prstGeom>
          <a:solidFill>
            <a:srgbClr val="0A180A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00584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E5A0"/>
                </a:solidFill>
              </a:rPr>
              <a:t>✅ SOLUTION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709160" y="1508760"/>
            <a:ext cx="4023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Quantum Key Distribution (QKD): Uses physics laws to create unhackable keys.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709160" y="2167128"/>
            <a:ext cx="4023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Post-Quantum Cryptography (PQC): New math-based algorithms (ML-KEM, ML-DSA) quantum-computers cannot crack.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709160" y="2825496"/>
            <a:ext cx="4023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Any eavesdropping on a quantum channel DISRUPTS the signal — instantly detectable.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709160" y="3483864"/>
            <a:ext cx="4023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Vodafone &amp; IBM collaborating on quantum-safe smartphone security (2025).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09160" y="4142232"/>
            <a:ext cx="4023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Boeing implementing quantum encryption for avionics and defense comms.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5074920"/>
            <a:ext cx="8412480" cy="36576"/>
          </a:xfrm>
          <a:prstGeom prst="rect">
            <a:avLst/>
          </a:prstGeom>
          <a:solidFill>
            <a:srgbClr val="7E90B0"/>
          </a:solidFill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3" name="Text 1"/>
          <p:cNvSpPr/>
          <p:nvPr/>
        </p:nvSpPr>
        <p:spPr>
          <a:xfrm>
            <a:off x="201168" y="164592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Aerospace &amp; Health — The Quantum Ripple Effect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01168" y="822960"/>
            <a:ext cx="8503920" cy="27432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5" name="Shape 3"/>
          <p:cNvSpPr/>
          <p:nvPr/>
        </p:nvSpPr>
        <p:spPr>
          <a:xfrm>
            <a:off x="228600" y="960120"/>
            <a:ext cx="2788920" cy="1828800"/>
          </a:xfrm>
          <a:prstGeom prst="rect">
            <a:avLst/>
          </a:prstGeom>
          <a:solidFill>
            <a:srgbClr val="111E45"/>
          </a:solidFill>
          <a:ln w="10160">
            <a:solidFill>
              <a:srgbClr val="00E5A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1033272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🌍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20040" y="1435608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E5A0"/>
                </a:solidFill>
              </a:rPr>
              <a:t>Climate &amp; Environment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320040" y="1764792"/>
            <a:ext cx="2606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simulates climate models at unprecedented accuracy. Airbus used quantum to model hydrogen fuel cell reactions for its hydrogen aircraft program.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00400" y="960120"/>
            <a:ext cx="2788920" cy="1828800"/>
          </a:xfrm>
          <a:prstGeom prst="rect">
            <a:avLst/>
          </a:prstGeom>
          <a:solidFill>
            <a:srgbClr val="111E45"/>
          </a:solidFill>
          <a:ln w="10160">
            <a:solidFill>
              <a:srgbClr val="FFD16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0" y="1033272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💰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291840" y="1435608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D166"/>
                </a:solidFill>
              </a:rPr>
              <a:t>Finance &amp; Optimization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291840" y="1764792"/>
            <a:ext cx="2606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JPMorgan Chase announced $10B investment naming quantum as strategic. Portfolio optimization, risk analysis, fraud detection — all quantum-accelerated.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172200" y="960120"/>
            <a:ext cx="2788920" cy="1828800"/>
          </a:xfrm>
          <a:prstGeom prst="rect">
            <a:avLst/>
          </a:prstGeom>
          <a:solidFill>
            <a:srgbClr val="111E45"/>
          </a:solidFill>
          <a:ln w="10160">
            <a:solidFill>
              <a:srgbClr val="00C8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72200" y="1033272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🤖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263640" y="1435608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C8FF"/>
                </a:solidFill>
              </a:rPr>
              <a:t>AI &amp; Machine Learning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263640" y="1764792"/>
            <a:ext cx="2606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"Quantum computing will be to AI what AI has been to traditional computing." — Sundar Pichai, Google. Quantum trains AI models exponentially faster.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28600" y="2971800"/>
            <a:ext cx="2788920" cy="1828800"/>
          </a:xfrm>
          <a:prstGeom prst="rect">
            <a:avLst/>
          </a:prstGeom>
          <a:solidFill>
            <a:srgbClr val="111E45"/>
          </a:solidFill>
          <a:ln w="10160">
            <a:solidFill>
              <a:srgbClr val="7B4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28600" y="3044952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🧪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320040" y="3447288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7B4FFF"/>
                </a:solidFill>
              </a:rPr>
              <a:t>Materials Science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320040" y="3776472"/>
            <a:ext cx="2606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Microsoft's Majorana 1 chip (2025) targets discovery of new materials for batteries, superconductors, and clean energy — problems requiring atomic simulation.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200400" y="2971800"/>
            <a:ext cx="2788920" cy="1828800"/>
          </a:xfrm>
          <a:prstGeom prst="rect">
            <a:avLst/>
          </a:prstGeom>
          <a:solidFill>
            <a:srgbClr val="111E45"/>
          </a:solidFill>
          <a:ln w="10160">
            <a:solidFill>
              <a:srgbClr val="FF6B6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0" y="3044952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🚦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3291840" y="3447288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6B6B"/>
                </a:solidFill>
              </a:rPr>
              <a:t>Logistics &amp; Supply Chain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3291840" y="3776472"/>
            <a:ext cx="2606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optimization solves route planning, supply chains, and traffic systems with thousands of variables — classical computers can only approximate.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172200" y="2971800"/>
            <a:ext cx="2788920" cy="1828800"/>
          </a:xfrm>
          <a:prstGeom prst="rect">
            <a:avLst/>
          </a:prstGeom>
          <a:solidFill>
            <a:srgbClr val="111E45"/>
          </a:solidFill>
          <a:ln w="10160">
            <a:solidFill>
              <a:srgbClr val="FFD16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72200" y="3044952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🛡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6263640" y="3447288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D166"/>
                </a:solidFill>
              </a:rPr>
              <a:t>National Security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6263640" y="3776472"/>
            <a:ext cx="2606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Governments invested $10B in quantum by April 2025. Quantum sensing enables GPS-denied navigation, underground detection, and strategic advantage.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C8FF"/>
          </a:solidFill>
          <a:ln/>
        </p:spPr>
      </p:sp>
      <p:sp>
        <p:nvSpPr>
          <p:cNvPr id="3" name="Text 1"/>
          <p:cNvSpPr/>
          <p:nvPr/>
        </p:nvSpPr>
        <p:spPr>
          <a:xfrm>
            <a:off x="201168" y="164592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Quantum Market — Numbers That Tell the Story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01168" y="822960"/>
            <a:ext cx="8503920" cy="27432"/>
          </a:xfrm>
          <a:prstGeom prst="rect">
            <a:avLst/>
          </a:prstGeom>
          <a:solidFill>
            <a:srgbClr val="00C8FF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960120"/>
            <a:ext cx="2011680" cy="1645920"/>
          </a:xfrm>
          <a:prstGeom prst="rect">
            <a:avLst/>
          </a:prstGeom>
          <a:solidFill>
            <a:srgbClr val="111E45"/>
          </a:solidFill>
          <a:ln w="19050">
            <a:solidFill>
              <a:srgbClr val="00C8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1051560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$3.77B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365760" y="182880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VC Funding raised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Jan–Sep 2025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441448" y="960120"/>
            <a:ext cx="2011680" cy="1645920"/>
          </a:xfrm>
          <a:prstGeom prst="rect">
            <a:avLst/>
          </a:prstGeom>
          <a:solidFill>
            <a:srgbClr val="111E45"/>
          </a:solidFill>
          <a:ln w="19050">
            <a:solidFill>
              <a:srgbClr val="7B4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441448" y="1051560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7B4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$10B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532888" y="182880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Govt investment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April 2025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608576" y="960120"/>
            <a:ext cx="2011680" cy="1645920"/>
          </a:xfrm>
          <a:prstGeom prst="rect">
            <a:avLst/>
          </a:prstGeom>
          <a:solidFill>
            <a:srgbClr val="111E45"/>
          </a:solidFill>
          <a:ln w="19050">
            <a:solidFill>
              <a:srgbClr val="00E5A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608576" y="1051560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3000%+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4700016" y="182880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price gain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quantum firms in a year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775704" y="960120"/>
            <a:ext cx="2011680" cy="1645920"/>
          </a:xfrm>
          <a:prstGeom prst="rect">
            <a:avLst/>
          </a:prstGeom>
          <a:solidFill>
            <a:srgbClr val="111E45"/>
          </a:solidFill>
          <a:ln w="19050">
            <a:solidFill>
              <a:srgbClr val="FFD16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775704" y="1051560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250,000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867144" y="182880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quantum jobs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needed globally by 2030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74320" y="278892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Key Milestones Timeline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7200" y="3703320"/>
            <a:ext cx="8229600" cy="45720"/>
          </a:xfrm>
          <a:prstGeom prst="rect">
            <a:avLst/>
          </a:prstGeom>
          <a:solidFill>
            <a:srgbClr val="7B4FFF"/>
          </a:solidFill>
          <a:ln/>
        </p:spPr>
      </p:sp>
      <p:sp>
        <p:nvSpPr>
          <p:cNvPr id="19" name="Shape 17"/>
          <p:cNvSpPr/>
          <p:nvPr/>
        </p:nvSpPr>
        <p:spPr>
          <a:xfrm>
            <a:off x="457200" y="3566160"/>
            <a:ext cx="274320" cy="274320"/>
          </a:xfrm>
          <a:prstGeom prst="ellipse">
            <a:avLst/>
          </a:prstGeom>
          <a:solidFill>
            <a:srgbClr val="7E90B0"/>
          </a:solidFill>
          <a:ln/>
        </p:spPr>
      </p:sp>
      <p:sp>
        <p:nvSpPr>
          <p:cNvPr id="20" name="Text 18"/>
          <p:cNvSpPr/>
          <p:nvPr/>
        </p:nvSpPr>
        <p:spPr>
          <a:xfrm>
            <a:off x="182880" y="3858768"/>
            <a:ext cx="868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E90B0"/>
                </a:solidFill>
              </a:rPr>
              <a:t>1981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82880" y="4206240"/>
            <a:ext cx="868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Feynman proposes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quantum simulation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1847088" y="3566160"/>
            <a:ext cx="274320" cy="274320"/>
          </a:xfrm>
          <a:prstGeom prst="ellipse">
            <a:avLst/>
          </a:prstGeom>
          <a:solidFill>
            <a:srgbClr val="7B4FFF"/>
          </a:solidFill>
          <a:ln/>
        </p:spPr>
      </p:sp>
      <p:sp>
        <p:nvSpPr>
          <p:cNvPr id="23" name="Text 21"/>
          <p:cNvSpPr/>
          <p:nvPr/>
        </p:nvSpPr>
        <p:spPr>
          <a:xfrm>
            <a:off x="1572768" y="3858768"/>
            <a:ext cx="868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B4FFF"/>
                </a:solidFill>
              </a:rPr>
              <a:t>1994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572768" y="4206240"/>
            <a:ext cx="868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Shor's algorithm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shocks cryptographers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236976" y="3566160"/>
            <a:ext cx="274320" cy="274320"/>
          </a:xfrm>
          <a:prstGeom prst="ellipse">
            <a:avLst/>
          </a:prstGeom>
          <a:solidFill>
            <a:srgbClr val="00C8FF"/>
          </a:solidFill>
          <a:ln/>
        </p:spPr>
      </p:sp>
      <p:sp>
        <p:nvSpPr>
          <p:cNvPr id="26" name="Text 24"/>
          <p:cNvSpPr/>
          <p:nvPr/>
        </p:nvSpPr>
        <p:spPr>
          <a:xfrm>
            <a:off x="2962656" y="3858768"/>
            <a:ext cx="868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C8FF"/>
                </a:solidFill>
              </a:rPr>
              <a:t>2019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962656" y="4206240"/>
            <a:ext cx="868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Google claims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quantum supremacy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626864" y="3566160"/>
            <a:ext cx="274320" cy="274320"/>
          </a:xfrm>
          <a:prstGeom prst="ellipse">
            <a:avLst/>
          </a:prstGeom>
          <a:solidFill>
            <a:srgbClr val="00E5A0"/>
          </a:solidFill>
          <a:ln/>
        </p:spPr>
      </p:sp>
      <p:sp>
        <p:nvSpPr>
          <p:cNvPr id="29" name="Text 27"/>
          <p:cNvSpPr/>
          <p:nvPr/>
        </p:nvSpPr>
        <p:spPr>
          <a:xfrm>
            <a:off x="4352544" y="3858768"/>
            <a:ext cx="868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E5A0"/>
                </a:solidFill>
              </a:rPr>
              <a:t>2024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352544" y="4206240"/>
            <a:ext cx="868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800× error reduction;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Willow chip; Q4S announced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6016752" y="3566160"/>
            <a:ext cx="274320" cy="274320"/>
          </a:xfrm>
          <a:prstGeom prst="ellipse">
            <a:avLst/>
          </a:prstGeom>
          <a:solidFill>
            <a:srgbClr val="FFD166"/>
          </a:solidFill>
          <a:ln/>
        </p:spPr>
      </p:sp>
      <p:sp>
        <p:nvSpPr>
          <p:cNvPr id="32" name="Text 30"/>
          <p:cNvSpPr/>
          <p:nvPr/>
        </p:nvSpPr>
        <p:spPr>
          <a:xfrm>
            <a:off x="5742432" y="3858768"/>
            <a:ext cx="868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D166"/>
                </a:solidFill>
              </a:rPr>
              <a:t>2025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742432" y="4206240"/>
            <a:ext cx="868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UN Year of Quantum;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$3.77B VC; Nobel Prize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7406640" y="3566160"/>
            <a:ext cx="274320" cy="274320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35" name="Text 33"/>
          <p:cNvSpPr/>
          <p:nvPr/>
        </p:nvSpPr>
        <p:spPr>
          <a:xfrm>
            <a:off x="7132320" y="3858768"/>
            <a:ext cx="868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6B6B"/>
                </a:solidFill>
              </a:rPr>
              <a:t>2026+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7132320" y="4206240"/>
            <a:ext cx="868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Q4S launch;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Fault-tolerant era begins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3" name="Text 1"/>
          <p:cNvSpPr/>
          <p:nvPr/>
        </p:nvSpPr>
        <p:spPr>
          <a:xfrm>
            <a:off x="201168" y="164592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— It's Not Magic (Yet)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01168" y="822960"/>
            <a:ext cx="8503920" cy="27432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5" name="Shape 3"/>
          <p:cNvSpPr/>
          <p:nvPr/>
        </p:nvSpPr>
        <p:spPr>
          <a:xfrm>
            <a:off x="228600" y="960120"/>
            <a:ext cx="2743200" cy="1737360"/>
          </a:xfrm>
          <a:prstGeom prst="rect">
            <a:avLst/>
          </a:prstGeom>
          <a:solidFill>
            <a:srgbClr val="111E45"/>
          </a:solidFill>
          <a:ln w="10160">
            <a:solidFill>
              <a:srgbClr val="FF6B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102412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🌡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20040" y="139903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6B6B"/>
                </a:solidFill>
              </a:rPr>
              <a:t>Extreme Cold Required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320040" y="173736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computers need near absolute zero (−273°C). That's colder than outer space. Massive infrastructure required.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00400" y="960120"/>
            <a:ext cx="2743200" cy="1737360"/>
          </a:xfrm>
          <a:prstGeom prst="rect">
            <a:avLst/>
          </a:prstGeom>
          <a:solidFill>
            <a:srgbClr val="111E45"/>
          </a:solidFill>
          <a:ln w="10160">
            <a:solidFill>
              <a:srgbClr val="7B4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0" y="102412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📡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3291840" y="139903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7B4FFF"/>
                </a:solidFill>
              </a:rPr>
              <a:t>Decoherence &amp; Noise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291840" y="173736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Qubits are incredibly fragile. The slightest vibration, temperature change, or radiation can destroy quantum states. Coherence lasts milliseconds.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172200" y="960120"/>
            <a:ext cx="2743200" cy="1737360"/>
          </a:xfrm>
          <a:prstGeom prst="rect">
            <a:avLst/>
          </a:prstGeom>
          <a:solidFill>
            <a:srgbClr val="111E45"/>
          </a:solidFill>
          <a:ln w="10160">
            <a:solidFill>
              <a:srgbClr val="FFD16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72200" y="102412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🔧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263640" y="139903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D166"/>
                </a:solidFill>
              </a:rPr>
              <a:t>Error Rates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263640" y="173736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gates introduce errors. Microsoft and Quantinuum achieved 800× error reduction in 2024 — but still not error-free. Error correction overhead is massive.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28600" y="2880360"/>
            <a:ext cx="2743200" cy="1737360"/>
          </a:xfrm>
          <a:prstGeom prst="rect">
            <a:avLst/>
          </a:prstGeom>
          <a:solidFill>
            <a:srgbClr val="111E45"/>
          </a:solidFill>
          <a:ln w="10160">
            <a:solidFill>
              <a:srgbClr val="00E5A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28600" y="294436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👩‍🔬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320040" y="331927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E5A0"/>
                </a:solidFill>
              </a:rPr>
              <a:t>Talent Shortage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320040" y="365760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1 qualified candidate for every 3 quantum positions globally. US quantum job postings tripled since 2011. 250,000 professionals needed by 2030.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200400" y="2880360"/>
            <a:ext cx="2743200" cy="1737360"/>
          </a:xfrm>
          <a:prstGeom prst="rect">
            <a:avLst/>
          </a:prstGeom>
          <a:solidFill>
            <a:srgbClr val="111E45"/>
          </a:solidFill>
          <a:ln w="10160">
            <a:solidFill>
              <a:srgbClr val="00C8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0" y="294436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💻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3291840" y="331927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C8FF"/>
                </a:solidFill>
              </a:rPr>
              <a:t>Not a General Replacement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3291840" y="365760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won't replace your laptop. It's specialized for specific problems — optimization, simulation, cryptography. Classical and quantum will co-exist as hybrid systems.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172200" y="2880360"/>
            <a:ext cx="2743200" cy="1737360"/>
          </a:xfrm>
          <a:prstGeom prst="rect">
            <a:avLst/>
          </a:prstGeom>
          <a:solidFill>
            <a:srgbClr val="111E45"/>
          </a:solidFill>
          <a:ln w="10160">
            <a:solidFill>
              <a:srgbClr val="7E90B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72200" y="294436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💸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6263640" y="331927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7E90B0"/>
                </a:solidFill>
              </a:rPr>
              <a:t>Cost &amp; Scale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6263640" y="365760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quantum computer sales hit $854M in 2024. Building, cooling, and maintaining quantum systems is extraordinarily expensive and complex.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0" y="457200"/>
            <a:ext cx="2743200" cy="2743200"/>
          </a:xfrm>
          <a:prstGeom prst="ellipse">
            <a:avLst/>
          </a:prstGeom>
          <a:solidFill>
            <a:srgbClr val="00C8FF">
              <a:alpha val="8000"/>
            </a:srgbClr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0" y="182880"/>
            <a:ext cx="3657600" cy="3657600"/>
          </a:xfrm>
          <a:prstGeom prst="ellipse">
            <a:avLst/>
          </a:prstGeom>
          <a:solidFill>
            <a:srgbClr val="7B4FFF">
              <a:alpha val="5000"/>
            </a:srgbClr>
          </a:solidFill>
          <a:ln w="6350">
            <a:solidFill>
              <a:srgbClr val="7B4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C8FF"/>
          </a:solidFill>
          <a:ln/>
        </p:spPr>
      </p:sp>
      <p:sp>
        <p:nvSpPr>
          <p:cNvPr id="5" name="Text 3"/>
          <p:cNvSpPr/>
          <p:nvPr/>
        </p:nvSpPr>
        <p:spPr>
          <a:xfrm>
            <a:off x="201168" y="164592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Quantum Future — What's Coming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01168" y="822960"/>
            <a:ext cx="8503920" cy="27432"/>
          </a:xfrm>
          <a:prstGeom prst="rect">
            <a:avLst/>
          </a:prstGeom>
          <a:solidFill>
            <a:srgbClr val="00C8FF"/>
          </a:solidFill>
          <a:ln/>
        </p:spPr>
      </p:sp>
      <p:sp>
        <p:nvSpPr>
          <p:cNvPr id="7" name="Shape 5"/>
          <p:cNvSpPr/>
          <p:nvPr/>
        </p:nvSpPr>
        <p:spPr>
          <a:xfrm>
            <a:off x="274320" y="1005840"/>
            <a:ext cx="8412480" cy="1143000"/>
          </a:xfrm>
          <a:prstGeom prst="rect">
            <a:avLst/>
          </a:prstGeom>
          <a:solidFill>
            <a:srgbClr val="111E45"/>
          </a:solidFill>
          <a:ln w="12700">
            <a:solidFill>
              <a:srgbClr val="00C8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005840"/>
            <a:ext cx="1188720" cy="1143000"/>
          </a:xfrm>
          <a:prstGeom prst="rect">
            <a:avLst/>
          </a:prstGeom>
          <a:solidFill>
            <a:srgbClr val="00C8FF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" y="1005840"/>
            <a:ext cx="1188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F2E"/>
                </a:solidFill>
              </a:rPr>
              <a:t>2025–26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600200" y="1097280"/>
            <a:ext cx="6858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Nighthawk delivers quantum advantage for specific problems. Boeing Q4S satellite launches. Fault-tolerant logical qubits demonstrated.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274320" y="2331720"/>
            <a:ext cx="8412480" cy="1143000"/>
          </a:xfrm>
          <a:prstGeom prst="rect">
            <a:avLst/>
          </a:prstGeom>
          <a:solidFill>
            <a:srgbClr val="111E45"/>
          </a:solidFill>
          <a:ln w="12700">
            <a:solidFill>
              <a:srgbClr val="7B4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4320" y="2331720"/>
            <a:ext cx="1188720" cy="1143000"/>
          </a:xfrm>
          <a:prstGeom prst="rect">
            <a:avLst/>
          </a:prstGeom>
          <a:solidFill>
            <a:srgbClr val="7B4FFF"/>
          </a:solidFill>
          <a:ln/>
        </p:spPr>
      </p:sp>
      <p:sp>
        <p:nvSpPr>
          <p:cNvPr id="13" name="Text 11"/>
          <p:cNvSpPr/>
          <p:nvPr/>
        </p:nvSpPr>
        <p:spPr>
          <a:xfrm>
            <a:off x="274320" y="2331720"/>
            <a:ext cx="1188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F2E"/>
                </a:solidFill>
              </a:rPr>
              <a:t>2027–29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600200" y="2423160"/>
            <a:ext cx="6858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Starling fault-tolerant computer. Hybrid quantum-HPC systems mainstream in finance, pharma, and aerospace.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274320" y="3657600"/>
            <a:ext cx="8412480" cy="1143000"/>
          </a:xfrm>
          <a:prstGeom prst="rect">
            <a:avLst/>
          </a:prstGeom>
          <a:solidFill>
            <a:srgbClr val="111E45"/>
          </a:solidFill>
          <a:ln w="12700">
            <a:solidFill>
              <a:srgbClr val="00E5A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3657600"/>
            <a:ext cx="1188720" cy="1143000"/>
          </a:xfrm>
          <a:prstGeom prst="rect">
            <a:avLst/>
          </a:prstGeom>
          <a:solidFill>
            <a:srgbClr val="00E5A0"/>
          </a:solidFill>
          <a:ln/>
        </p:spPr>
      </p:sp>
      <p:sp>
        <p:nvSpPr>
          <p:cNvPr id="17" name="Text 15"/>
          <p:cNvSpPr/>
          <p:nvPr/>
        </p:nvSpPr>
        <p:spPr>
          <a:xfrm>
            <a:off x="274320" y="3657600"/>
            <a:ext cx="1188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F2E"/>
                </a:solidFill>
              </a:rPr>
              <a:t>2030+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600200" y="3749040"/>
            <a:ext cx="6858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PsiQuantum's 1M-qubit commercial system. Quantum internet connecting continents. Drug discovery pipelines quantum-native.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274320" y="4572000"/>
            <a:ext cx="8412480" cy="457200"/>
          </a:xfrm>
          <a:prstGeom prst="rect">
            <a:avLst/>
          </a:prstGeom>
          <a:solidFill>
            <a:srgbClr val="0E1A3D"/>
          </a:solidFill>
          <a:ln w="6350">
            <a:solidFill>
              <a:srgbClr val="00C8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4590288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computing is not just faster computing — it is a completely new way of thinking about and solving humanity's hardest problems.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0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82880"/>
            <a:ext cx="73152" cy="73152"/>
          </a:xfrm>
          <a:prstGeom prst="ellipse">
            <a:avLst/>
          </a:prstGeom>
          <a:solidFill>
            <a:srgbClr val="00C8FF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686800" y="1005840"/>
            <a:ext cx="73152" cy="73152"/>
          </a:xfrm>
          <a:prstGeom prst="ellipse">
            <a:avLst/>
          </a:prstGeom>
          <a:solidFill>
            <a:srgbClr val="00C8FF">
              <a:alpha val="7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4754880"/>
            <a:ext cx="73152" cy="73152"/>
          </a:xfrm>
          <a:prstGeom prst="ellipse">
            <a:avLst/>
          </a:prstGeom>
          <a:solidFill>
            <a:srgbClr val="00C8FF">
              <a:alpha val="7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8503920" y="4389120"/>
            <a:ext cx="73152" cy="73152"/>
          </a:xfrm>
          <a:prstGeom prst="ellipse">
            <a:avLst/>
          </a:prstGeom>
          <a:solidFill>
            <a:srgbClr val="00C8FF">
              <a:alpha val="7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480560" y="137160"/>
            <a:ext cx="73152" cy="73152"/>
          </a:xfrm>
          <a:prstGeom prst="ellipse">
            <a:avLst/>
          </a:prstGeom>
          <a:solidFill>
            <a:srgbClr val="00C8FF">
              <a:alpha val="7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4754880" y="4983480"/>
            <a:ext cx="73152" cy="73152"/>
          </a:xfrm>
          <a:prstGeom prst="ellipse">
            <a:avLst/>
          </a:prstGeom>
          <a:solidFill>
            <a:srgbClr val="00C8FF">
              <a:alpha val="7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64592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Wisdom From the Giants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3200400" y="777240"/>
            <a:ext cx="2743200" cy="36576"/>
          </a:xfrm>
          <a:prstGeom prst="rect">
            <a:avLst/>
          </a:prstGeom>
          <a:solidFill>
            <a:srgbClr val="7B4FFF"/>
          </a:solidFill>
          <a:ln/>
        </p:spPr>
      </p:sp>
      <p:sp>
        <p:nvSpPr>
          <p:cNvPr id="10" name="Shape 8"/>
          <p:cNvSpPr/>
          <p:nvPr/>
        </p:nvSpPr>
        <p:spPr>
          <a:xfrm>
            <a:off x="274320" y="960120"/>
            <a:ext cx="4114800" cy="1737360"/>
          </a:xfrm>
          <a:prstGeom prst="rect">
            <a:avLst/>
          </a:prstGeom>
          <a:solidFill>
            <a:srgbClr val="111E45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960120"/>
            <a:ext cx="4114800" cy="54864"/>
          </a:xfrm>
          <a:prstGeom prst="rect">
            <a:avLst/>
          </a:prstGeom>
          <a:solidFill>
            <a:srgbClr val="00C8FF"/>
          </a:solidFill>
          <a:ln/>
        </p:spPr>
      </p:sp>
      <p:sp>
        <p:nvSpPr>
          <p:cNvPr id="12" name="Text 10"/>
          <p:cNvSpPr/>
          <p:nvPr/>
        </p:nvSpPr>
        <p:spPr>
          <a:xfrm>
            <a:off x="384048" y="1097280"/>
            <a:ext cx="3886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"Nature isn't classical, dammit, and if you want to make a simulation of nature, you'd better make it quantum mechanical."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84048" y="2221992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C8FF"/>
                </a:solidFill>
              </a:rPr>
              <a:t>— Richard Feynman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84048" y="2441448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E90B0"/>
                </a:solidFill>
              </a:rPr>
              <a:t>Nobel Laureate &amp; Father of Quantum Computing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709160" y="960120"/>
            <a:ext cx="4114800" cy="1737360"/>
          </a:xfrm>
          <a:prstGeom prst="rect">
            <a:avLst/>
          </a:prstGeom>
          <a:solidFill>
            <a:srgbClr val="111E45"/>
          </a:solidFill>
          <a:ln w="12700">
            <a:solidFill>
              <a:srgbClr val="7B4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09160" y="960120"/>
            <a:ext cx="4114800" cy="54864"/>
          </a:xfrm>
          <a:prstGeom prst="rect">
            <a:avLst/>
          </a:prstGeom>
          <a:solidFill>
            <a:srgbClr val="7B4FFF"/>
          </a:solidFill>
          <a:ln/>
        </p:spPr>
      </p:sp>
      <p:sp>
        <p:nvSpPr>
          <p:cNvPr id="17" name="Text 15"/>
          <p:cNvSpPr/>
          <p:nvPr/>
        </p:nvSpPr>
        <p:spPr>
          <a:xfrm>
            <a:off x="4818888" y="1097280"/>
            <a:ext cx="3886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"We should regard quantum computing as a new branch of science rather than just a way to make faster computers."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818888" y="2221992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B4FFF"/>
                </a:solidFill>
              </a:rPr>
              <a:t>— John Preskill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818888" y="2441448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E90B0"/>
                </a:solidFill>
              </a:rPr>
              <a:t>Caltech — who coined the term 'Quantum Supremacy'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74320" y="2880360"/>
            <a:ext cx="4114800" cy="1737360"/>
          </a:xfrm>
          <a:prstGeom prst="rect">
            <a:avLst/>
          </a:prstGeom>
          <a:solidFill>
            <a:srgbClr val="111E45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2880360"/>
            <a:ext cx="4114800" cy="54864"/>
          </a:xfrm>
          <a:prstGeom prst="rect">
            <a:avLst/>
          </a:prstGeom>
          <a:solidFill>
            <a:srgbClr val="00E5A0"/>
          </a:solidFill>
          <a:ln/>
        </p:spPr>
      </p:sp>
      <p:sp>
        <p:nvSpPr>
          <p:cNvPr id="22" name="Text 20"/>
          <p:cNvSpPr/>
          <p:nvPr/>
        </p:nvSpPr>
        <p:spPr>
          <a:xfrm>
            <a:off x="384048" y="3017520"/>
            <a:ext cx="3886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"Quantum computing will be to artificial intelligence what AI has been to traditional computing."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84048" y="4142232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E5A0"/>
                </a:solidFill>
              </a:rPr>
              <a:t>— Sundar Pichai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84048" y="4361688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E90B0"/>
                </a:solidFill>
              </a:rPr>
              <a:t>CEO, Google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709160" y="2880360"/>
            <a:ext cx="4114800" cy="1737360"/>
          </a:xfrm>
          <a:prstGeom prst="rect">
            <a:avLst/>
          </a:prstGeom>
          <a:solidFill>
            <a:srgbClr val="111E45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709160" y="2880360"/>
            <a:ext cx="4114800" cy="54864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27" name="Text 25"/>
          <p:cNvSpPr/>
          <p:nvPr/>
        </p:nvSpPr>
        <p:spPr>
          <a:xfrm>
            <a:off x="4818888" y="3017520"/>
            <a:ext cx="3886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question is not if quantum computers will break today's encryption, but when. We need to be ready before that happens."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818888" y="4142232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D166"/>
                </a:solidFill>
              </a:rPr>
              <a:t>— Michele Mosca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818888" y="4361688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E90B0"/>
                </a:solidFill>
              </a:rPr>
              <a:t>Co-founder, Institute for Quantum Computing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0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0" y="274320"/>
            <a:ext cx="4572000" cy="4572000"/>
          </a:xfrm>
          <a:prstGeom prst="ellipse">
            <a:avLst/>
          </a:prstGeom>
          <a:solidFill>
            <a:srgbClr val="00C8FF">
              <a:alpha val="4000"/>
            </a:srgbClr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2700000">
            <a:off x="2926080" y="0"/>
            <a:ext cx="3291840" cy="5120640"/>
          </a:xfrm>
          <a:prstGeom prst="ellipse">
            <a:avLst/>
          </a:prstGeom>
          <a:solidFill>
            <a:srgbClr val="7B4FFF">
              <a:alpha val="4000"/>
            </a:srgbClr>
          </a:solidFill>
          <a:ln w="10160">
            <a:solidFill>
              <a:srgbClr val="7B4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0" y="457200"/>
            <a:ext cx="27432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8000" dirty="0"/>
          </a:p>
        </p:txBody>
      </p:sp>
      <p:sp>
        <p:nvSpPr>
          <p:cNvPr id="5" name="Shape 3"/>
          <p:cNvSpPr/>
          <p:nvPr/>
        </p:nvSpPr>
        <p:spPr>
          <a:xfrm>
            <a:off x="457200" y="3566160"/>
            <a:ext cx="8229600" cy="73152"/>
          </a:xfrm>
          <a:prstGeom prst="rect">
            <a:avLst/>
          </a:prstGeom>
          <a:solidFill>
            <a:srgbClr val="7B4FFF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37490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914400" y="44348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excites you most? What worries you? What would you like to explore further?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" y="4956048"/>
            <a:ext cx="1463040" cy="128016"/>
          </a:xfrm>
          <a:prstGeom prst="rect">
            <a:avLst/>
          </a:prstGeom>
          <a:solidFill>
            <a:srgbClr val="111E45"/>
          </a:solidFill>
          <a:ln w="7620">
            <a:solidFill>
              <a:srgbClr val="00C8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4956048"/>
            <a:ext cx="1463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0C8FF"/>
                </a:solidFill>
              </a:rPr>
              <a:t>Superposition?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2304288" y="4956048"/>
            <a:ext cx="1463040" cy="128016"/>
          </a:xfrm>
          <a:prstGeom prst="rect">
            <a:avLst/>
          </a:prstGeom>
          <a:solidFill>
            <a:srgbClr val="111E45"/>
          </a:solidFill>
          <a:ln w="7620">
            <a:solidFill>
              <a:srgbClr val="00C8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04288" y="4956048"/>
            <a:ext cx="1463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0C8FF"/>
                </a:solidFill>
              </a:rPr>
              <a:t>Boeing's Q4S?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3877056" y="4956048"/>
            <a:ext cx="1463040" cy="128016"/>
          </a:xfrm>
          <a:prstGeom prst="rect">
            <a:avLst/>
          </a:prstGeom>
          <a:solidFill>
            <a:srgbClr val="111E45"/>
          </a:solidFill>
          <a:ln w="7620">
            <a:solidFill>
              <a:srgbClr val="00C8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77056" y="4956048"/>
            <a:ext cx="1463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0C8FF"/>
                </a:solidFill>
              </a:rPr>
              <a:t>Drug Discovery?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5449824" y="4956048"/>
            <a:ext cx="1463040" cy="128016"/>
          </a:xfrm>
          <a:prstGeom prst="rect">
            <a:avLst/>
          </a:prstGeom>
          <a:solidFill>
            <a:srgbClr val="111E45"/>
          </a:solidFill>
          <a:ln w="7620">
            <a:solidFill>
              <a:srgbClr val="00C8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49824" y="4956048"/>
            <a:ext cx="1463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0C8FF"/>
                </a:solidFill>
              </a:rPr>
              <a:t>Cryptography Threat?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7022592" y="4956048"/>
            <a:ext cx="1463040" cy="128016"/>
          </a:xfrm>
          <a:prstGeom prst="rect">
            <a:avLst/>
          </a:prstGeom>
          <a:solidFill>
            <a:srgbClr val="111E45"/>
          </a:solidFill>
          <a:ln w="7620">
            <a:solidFill>
              <a:srgbClr val="00C8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22592" y="4956048"/>
            <a:ext cx="1463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0C8FF"/>
                </a:solidFill>
              </a:rPr>
              <a:t>Your Industry?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Quantum Computing: Harnessing the Power of Qubits</dc:title>
  <dc:subject>PptxGenJS Presentation</dc:subject>
  <dc:creator>Quantum Knowledge Share</dc:creator>
  <cp:lastModifiedBy>Quantum Knowledge Share</cp:lastModifiedBy>
  <cp:revision>1</cp:revision>
  <dcterms:created xsi:type="dcterms:W3CDTF">2026-03-20T16:47:05Z</dcterms:created>
  <dcterms:modified xsi:type="dcterms:W3CDTF">2026-03-20T16:47:05Z</dcterms:modified>
</cp:coreProperties>
</file>